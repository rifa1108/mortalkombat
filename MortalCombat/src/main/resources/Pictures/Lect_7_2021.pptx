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2"/>
  </p:notesMasterIdLst>
  <p:handoutMasterIdLst>
    <p:handoutMasterId r:id="rId83"/>
  </p:handoutMasterIdLst>
  <p:sldIdLst>
    <p:sldId id="256" r:id="rId2"/>
    <p:sldId id="272" r:id="rId3"/>
    <p:sldId id="266" r:id="rId4"/>
    <p:sldId id="262" r:id="rId5"/>
    <p:sldId id="267" r:id="rId6"/>
    <p:sldId id="269" r:id="rId7"/>
    <p:sldId id="263" r:id="rId8"/>
    <p:sldId id="271" r:id="rId9"/>
    <p:sldId id="354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275" r:id="rId18"/>
    <p:sldId id="290" r:id="rId19"/>
    <p:sldId id="289" r:id="rId20"/>
    <p:sldId id="276" r:id="rId21"/>
    <p:sldId id="282" r:id="rId22"/>
    <p:sldId id="280" r:id="rId23"/>
    <p:sldId id="283" r:id="rId24"/>
    <p:sldId id="284" r:id="rId25"/>
    <p:sldId id="285" r:id="rId26"/>
    <p:sldId id="277" r:id="rId27"/>
    <p:sldId id="281" r:id="rId28"/>
    <p:sldId id="286" r:id="rId29"/>
    <p:sldId id="278" r:id="rId30"/>
    <p:sldId id="287" r:id="rId31"/>
    <p:sldId id="300" r:id="rId32"/>
    <p:sldId id="301" r:id="rId33"/>
    <p:sldId id="302" r:id="rId34"/>
    <p:sldId id="303" r:id="rId35"/>
    <p:sldId id="304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16" r:id="rId48"/>
    <p:sldId id="317" r:id="rId49"/>
    <p:sldId id="318" r:id="rId50"/>
    <p:sldId id="319" r:id="rId51"/>
    <p:sldId id="320" r:id="rId52"/>
    <p:sldId id="323" r:id="rId53"/>
    <p:sldId id="324" r:id="rId54"/>
    <p:sldId id="325" r:id="rId55"/>
    <p:sldId id="327" r:id="rId56"/>
    <p:sldId id="328" r:id="rId57"/>
    <p:sldId id="355" r:id="rId58"/>
    <p:sldId id="329" r:id="rId59"/>
    <p:sldId id="330" r:id="rId60"/>
    <p:sldId id="331" r:id="rId61"/>
    <p:sldId id="332" r:id="rId62"/>
    <p:sldId id="356" r:id="rId63"/>
    <p:sldId id="357" r:id="rId64"/>
    <p:sldId id="358" r:id="rId65"/>
    <p:sldId id="359" r:id="rId66"/>
    <p:sldId id="360" r:id="rId67"/>
    <p:sldId id="363" r:id="rId68"/>
    <p:sldId id="361" r:id="rId69"/>
    <p:sldId id="338" r:id="rId70"/>
    <p:sldId id="339" r:id="rId71"/>
    <p:sldId id="340" r:id="rId72"/>
    <p:sldId id="288" r:id="rId73"/>
    <p:sldId id="341" r:id="rId74"/>
    <p:sldId id="342" r:id="rId75"/>
    <p:sldId id="291" r:id="rId76"/>
    <p:sldId id="292" r:id="rId77"/>
    <p:sldId id="343" r:id="rId78"/>
    <p:sldId id="345" r:id="rId79"/>
    <p:sldId id="346" r:id="rId80"/>
    <p:sldId id="364" r:id="rId81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CC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4" autoAdjust="0"/>
    <p:restoredTop sz="94670" autoAdjust="0"/>
  </p:normalViewPr>
  <p:slideViewPr>
    <p:cSldViewPr>
      <p:cViewPr varScale="1">
        <p:scale>
          <a:sx n="82" d="100"/>
          <a:sy n="82" d="100"/>
        </p:scale>
        <p:origin x="156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0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35B768-279F-47A1-8679-04D13BFB792D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1D30998-F59D-4738-B3B3-D9B92C2356D6}">
      <dgm:prSet custT="1"/>
      <dgm:spPr/>
      <dgm:t>
        <a:bodyPr/>
        <a:lstStyle/>
        <a:p>
          <a:pPr rtl="0"/>
          <a:r>
            <a:rPr lang="en-US" sz="1600" b="1" dirty="0">
              <a:solidFill>
                <a:srgbClr val="002060"/>
              </a:solidFill>
              <a:latin typeface="Verdana" pitchFamily="34" charset="0"/>
            </a:rPr>
            <a:t>UDDL</a:t>
          </a:r>
          <a:endParaRPr lang="ru-RU" sz="1600" b="1" dirty="0">
            <a:solidFill>
              <a:srgbClr val="002060"/>
            </a:solidFill>
            <a:latin typeface="Verdana" pitchFamily="34" charset="0"/>
          </a:endParaRPr>
        </a:p>
      </dgm:t>
    </dgm:pt>
    <dgm:pt modelId="{F4DF4F66-6E92-4FEA-B734-3ABBE2EABB83}" type="parTrans" cxnId="{61F7B0AE-10C9-4BC9-A974-530E716F3538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D2EB1EF7-93D9-4F53-8E68-3B001C0B5E4A}" type="sibTrans" cxnId="{61F7B0AE-10C9-4BC9-A974-530E716F3538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38A6A6CD-DA95-4180-B169-79BD4230CC9C}">
      <dgm:prSet custT="1"/>
      <dgm:spPr/>
      <dgm:t>
        <a:bodyPr/>
        <a:lstStyle/>
        <a:p>
          <a:pPr rtl="0"/>
          <a:r>
            <a:rPr lang="en-US" sz="1600" b="1" dirty="0">
              <a:solidFill>
                <a:srgbClr val="002060"/>
              </a:solidFill>
              <a:latin typeface="Verdana" pitchFamily="34" charset="0"/>
            </a:rPr>
            <a:t>WSDL</a:t>
          </a:r>
          <a:endParaRPr lang="ru-RU" sz="1600" b="1" dirty="0">
            <a:solidFill>
              <a:srgbClr val="002060"/>
            </a:solidFill>
            <a:latin typeface="Verdana" pitchFamily="34" charset="0"/>
          </a:endParaRPr>
        </a:p>
      </dgm:t>
    </dgm:pt>
    <dgm:pt modelId="{5E57189B-5E05-4BD1-944E-6C5CC637D67F}" type="parTrans" cxnId="{A39D6961-088A-443C-BB7B-915F17258006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49CB6182-CFDD-4211-85DC-97C64A08C303}" type="sibTrans" cxnId="{A39D6961-088A-443C-BB7B-915F17258006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CF0B7254-7FC5-448E-803C-E1339E6B831E}">
      <dgm:prSet custT="1"/>
      <dgm:spPr/>
      <dgm:t>
        <a:bodyPr/>
        <a:lstStyle/>
        <a:p>
          <a:pPr rtl="0"/>
          <a:r>
            <a:rPr lang="en-US" sz="1600" b="1" dirty="0">
              <a:solidFill>
                <a:srgbClr val="002060"/>
              </a:solidFill>
              <a:latin typeface="Verdana" pitchFamily="34" charset="0"/>
            </a:rPr>
            <a:t>SOAP</a:t>
          </a:r>
          <a:endParaRPr lang="ru-RU" sz="1600" b="1" dirty="0">
            <a:solidFill>
              <a:srgbClr val="002060"/>
            </a:solidFill>
            <a:latin typeface="Verdana" pitchFamily="34" charset="0"/>
          </a:endParaRPr>
        </a:p>
      </dgm:t>
    </dgm:pt>
    <dgm:pt modelId="{D95A01AA-DE4D-4C03-B7CE-F5E1ECCB671D}" type="parTrans" cxnId="{3E3B5550-9B79-4D2C-95BA-1DE699AD14C3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7984EA5B-0B93-4A12-89E7-D817224615CA}" type="sibTrans" cxnId="{3E3B5550-9B79-4D2C-95BA-1DE699AD14C3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E047BAA4-5E69-4BA4-8124-DCF9AE5C78A9}">
      <dgm:prSet custT="1"/>
      <dgm:spPr/>
      <dgm:t>
        <a:bodyPr/>
        <a:lstStyle/>
        <a:p>
          <a:pPr rtl="0"/>
          <a:r>
            <a:rPr lang="en-US" sz="1600" b="1" dirty="0">
              <a:solidFill>
                <a:srgbClr val="002060"/>
              </a:solidFill>
              <a:latin typeface="Verdana" pitchFamily="34" charset="0"/>
            </a:rPr>
            <a:t>XML</a:t>
          </a:r>
          <a:endParaRPr lang="ru-RU" sz="1600" b="1" dirty="0">
            <a:solidFill>
              <a:srgbClr val="002060"/>
            </a:solidFill>
            <a:latin typeface="Verdana" pitchFamily="34" charset="0"/>
          </a:endParaRPr>
        </a:p>
      </dgm:t>
    </dgm:pt>
    <dgm:pt modelId="{BD40379F-E4DF-4E8A-B84C-BD760FF6D1E1}" type="parTrans" cxnId="{6A23CFDA-12BC-4D2A-9335-BE59173D505E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53DBF037-91C6-43E0-9796-C9D8BA775D70}" type="sibTrans" cxnId="{6A23CFDA-12BC-4D2A-9335-BE59173D505E}">
      <dgm:prSet/>
      <dgm:spPr/>
      <dgm:t>
        <a:bodyPr/>
        <a:lstStyle/>
        <a:p>
          <a:endParaRPr lang="ru-RU" sz="1600" b="1">
            <a:solidFill>
              <a:srgbClr val="002060"/>
            </a:solidFill>
            <a:latin typeface="Verdana" pitchFamily="34" charset="0"/>
          </a:endParaRPr>
        </a:p>
      </dgm:t>
    </dgm:pt>
    <dgm:pt modelId="{AA3C4AC4-CCE4-4598-AF86-EC877EEB31D5}" type="pres">
      <dgm:prSet presAssocID="{7435B768-279F-47A1-8679-04D13BFB792D}" presName="compositeShape" presStyleCnt="0">
        <dgm:presLayoutVars>
          <dgm:dir/>
          <dgm:resizeHandles/>
        </dgm:presLayoutVars>
      </dgm:prSet>
      <dgm:spPr/>
    </dgm:pt>
    <dgm:pt modelId="{B5E804A8-0637-4183-8992-A915C85798B2}" type="pres">
      <dgm:prSet presAssocID="{7435B768-279F-47A1-8679-04D13BFB792D}" presName="pyramid" presStyleLbl="node1" presStyleIdx="0" presStyleCnt="1"/>
      <dgm:spPr/>
    </dgm:pt>
    <dgm:pt modelId="{FF79C2AC-3976-4E02-AE24-5F91EE80291E}" type="pres">
      <dgm:prSet presAssocID="{7435B768-279F-47A1-8679-04D13BFB792D}" presName="theList" presStyleCnt="0"/>
      <dgm:spPr/>
    </dgm:pt>
    <dgm:pt modelId="{B073A15F-B8E6-4F63-BB9C-90ED6BCEB1AF}" type="pres">
      <dgm:prSet presAssocID="{A1D30998-F59D-4738-B3B3-D9B92C2356D6}" presName="aNode" presStyleLbl="fgAcc1" presStyleIdx="0" presStyleCnt="4" custScaleX="183457">
        <dgm:presLayoutVars>
          <dgm:bulletEnabled val="1"/>
        </dgm:presLayoutVars>
      </dgm:prSet>
      <dgm:spPr/>
    </dgm:pt>
    <dgm:pt modelId="{67416915-ACCF-4697-90D1-7E43EC0FCE08}" type="pres">
      <dgm:prSet presAssocID="{A1D30998-F59D-4738-B3B3-D9B92C2356D6}" presName="aSpace" presStyleCnt="0"/>
      <dgm:spPr/>
    </dgm:pt>
    <dgm:pt modelId="{7D0791AA-5217-4A7D-B2EF-94F20874F0F7}" type="pres">
      <dgm:prSet presAssocID="{38A6A6CD-DA95-4180-B169-79BD4230CC9C}" presName="aNode" presStyleLbl="fgAcc1" presStyleIdx="1" presStyleCnt="4" custScaleX="183457">
        <dgm:presLayoutVars>
          <dgm:bulletEnabled val="1"/>
        </dgm:presLayoutVars>
      </dgm:prSet>
      <dgm:spPr/>
    </dgm:pt>
    <dgm:pt modelId="{E2A3EE71-E335-4673-8FC1-A5BE17964743}" type="pres">
      <dgm:prSet presAssocID="{38A6A6CD-DA95-4180-B169-79BD4230CC9C}" presName="aSpace" presStyleCnt="0"/>
      <dgm:spPr/>
    </dgm:pt>
    <dgm:pt modelId="{81413557-B0A8-4131-97E7-F1775ACF9E57}" type="pres">
      <dgm:prSet presAssocID="{CF0B7254-7FC5-448E-803C-E1339E6B831E}" presName="aNode" presStyleLbl="fgAcc1" presStyleIdx="2" presStyleCnt="4" custScaleX="183457">
        <dgm:presLayoutVars>
          <dgm:bulletEnabled val="1"/>
        </dgm:presLayoutVars>
      </dgm:prSet>
      <dgm:spPr/>
    </dgm:pt>
    <dgm:pt modelId="{FA22E6E7-916B-48D2-81E0-1E2BE06941D2}" type="pres">
      <dgm:prSet presAssocID="{CF0B7254-7FC5-448E-803C-E1339E6B831E}" presName="aSpace" presStyleCnt="0"/>
      <dgm:spPr/>
    </dgm:pt>
    <dgm:pt modelId="{E0CC0EF3-4669-4154-AB3B-0858ECA12C24}" type="pres">
      <dgm:prSet presAssocID="{E047BAA4-5E69-4BA4-8124-DCF9AE5C78A9}" presName="aNode" presStyleLbl="fgAcc1" presStyleIdx="3" presStyleCnt="4" custScaleX="183457">
        <dgm:presLayoutVars>
          <dgm:bulletEnabled val="1"/>
        </dgm:presLayoutVars>
      </dgm:prSet>
      <dgm:spPr/>
    </dgm:pt>
    <dgm:pt modelId="{E50217E2-6B2C-410C-9BBA-9C5EC56C8719}" type="pres">
      <dgm:prSet presAssocID="{E047BAA4-5E69-4BA4-8124-DCF9AE5C78A9}" presName="aSpace" presStyleCnt="0"/>
      <dgm:spPr/>
    </dgm:pt>
  </dgm:ptLst>
  <dgm:cxnLst>
    <dgm:cxn modelId="{A39D6961-088A-443C-BB7B-915F17258006}" srcId="{7435B768-279F-47A1-8679-04D13BFB792D}" destId="{38A6A6CD-DA95-4180-B169-79BD4230CC9C}" srcOrd="1" destOrd="0" parTransId="{5E57189B-5E05-4BD1-944E-6C5CC637D67F}" sibTransId="{49CB6182-CFDD-4211-85DC-97C64A08C303}"/>
    <dgm:cxn modelId="{3E3B5550-9B79-4D2C-95BA-1DE699AD14C3}" srcId="{7435B768-279F-47A1-8679-04D13BFB792D}" destId="{CF0B7254-7FC5-448E-803C-E1339E6B831E}" srcOrd="2" destOrd="0" parTransId="{D95A01AA-DE4D-4C03-B7CE-F5E1ECCB671D}" sibTransId="{7984EA5B-0B93-4A12-89E7-D817224615CA}"/>
    <dgm:cxn modelId="{D5C5FB56-9802-43C3-A686-D6B8602FA6BA}" type="presOf" srcId="{7435B768-279F-47A1-8679-04D13BFB792D}" destId="{AA3C4AC4-CCE4-4598-AF86-EC877EEB31D5}" srcOrd="0" destOrd="0" presId="urn:microsoft.com/office/officeart/2005/8/layout/pyramid2"/>
    <dgm:cxn modelId="{24741398-241B-4CAB-88A1-A6AE882F6EBB}" type="presOf" srcId="{38A6A6CD-DA95-4180-B169-79BD4230CC9C}" destId="{7D0791AA-5217-4A7D-B2EF-94F20874F0F7}" srcOrd="0" destOrd="0" presId="urn:microsoft.com/office/officeart/2005/8/layout/pyramid2"/>
    <dgm:cxn modelId="{61F7B0AE-10C9-4BC9-A974-530E716F3538}" srcId="{7435B768-279F-47A1-8679-04D13BFB792D}" destId="{A1D30998-F59D-4738-B3B3-D9B92C2356D6}" srcOrd="0" destOrd="0" parTransId="{F4DF4F66-6E92-4FEA-B734-3ABBE2EABB83}" sibTransId="{D2EB1EF7-93D9-4F53-8E68-3B001C0B5E4A}"/>
    <dgm:cxn modelId="{67045FCB-DC86-4B92-B983-07E2473903D9}" type="presOf" srcId="{CF0B7254-7FC5-448E-803C-E1339E6B831E}" destId="{81413557-B0A8-4131-97E7-F1775ACF9E57}" srcOrd="0" destOrd="0" presId="urn:microsoft.com/office/officeart/2005/8/layout/pyramid2"/>
    <dgm:cxn modelId="{6A23CFDA-12BC-4D2A-9335-BE59173D505E}" srcId="{7435B768-279F-47A1-8679-04D13BFB792D}" destId="{E047BAA4-5E69-4BA4-8124-DCF9AE5C78A9}" srcOrd="3" destOrd="0" parTransId="{BD40379F-E4DF-4E8A-B84C-BD760FF6D1E1}" sibTransId="{53DBF037-91C6-43E0-9796-C9D8BA775D70}"/>
    <dgm:cxn modelId="{7726BBEA-9063-4B9A-BE8B-2A4B77345473}" type="presOf" srcId="{E047BAA4-5E69-4BA4-8124-DCF9AE5C78A9}" destId="{E0CC0EF3-4669-4154-AB3B-0858ECA12C24}" srcOrd="0" destOrd="0" presId="urn:microsoft.com/office/officeart/2005/8/layout/pyramid2"/>
    <dgm:cxn modelId="{8355A3F9-DEA2-4CF9-8717-FEA3B7D8F932}" type="presOf" srcId="{A1D30998-F59D-4738-B3B3-D9B92C2356D6}" destId="{B073A15F-B8E6-4F63-BB9C-90ED6BCEB1AF}" srcOrd="0" destOrd="0" presId="urn:microsoft.com/office/officeart/2005/8/layout/pyramid2"/>
    <dgm:cxn modelId="{0D19E400-C80C-42A1-89C3-C89FB70AACAD}" type="presParOf" srcId="{AA3C4AC4-CCE4-4598-AF86-EC877EEB31D5}" destId="{B5E804A8-0637-4183-8992-A915C85798B2}" srcOrd="0" destOrd="0" presId="urn:microsoft.com/office/officeart/2005/8/layout/pyramid2"/>
    <dgm:cxn modelId="{E6766383-63F0-4C22-8127-AFC02BF2BF7B}" type="presParOf" srcId="{AA3C4AC4-CCE4-4598-AF86-EC877EEB31D5}" destId="{FF79C2AC-3976-4E02-AE24-5F91EE80291E}" srcOrd="1" destOrd="0" presId="urn:microsoft.com/office/officeart/2005/8/layout/pyramid2"/>
    <dgm:cxn modelId="{98074078-ECCC-414E-B168-D9B34A56D125}" type="presParOf" srcId="{FF79C2AC-3976-4E02-AE24-5F91EE80291E}" destId="{B073A15F-B8E6-4F63-BB9C-90ED6BCEB1AF}" srcOrd="0" destOrd="0" presId="urn:microsoft.com/office/officeart/2005/8/layout/pyramid2"/>
    <dgm:cxn modelId="{10407C6D-01BF-4263-BBF3-1FFBDB400A67}" type="presParOf" srcId="{FF79C2AC-3976-4E02-AE24-5F91EE80291E}" destId="{67416915-ACCF-4697-90D1-7E43EC0FCE08}" srcOrd="1" destOrd="0" presId="urn:microsoft.com/office/officeart/2005/8/layout/pyramid2"/>
    <dgm:cxn modelId="{80EF89A8-8190-4494-AC38-8E18973BD84E}" type="presParOf" srcId="{FF79C2AC-3976-4E02-AE24-5F91EE80291E}" destId="{7D0791AA-5217-4A7D-B2EF-94F20874F0F7}" srcOrd="2" destOrd="0" presId="urn:microsoft.com/office/officeart/2005/8/layout/pyramid2"/>
    <dgm:cxn modelId="{E4040442-320F-45AB-9149-860333E158A1}" type="presParOf" srcId="{FF79C2AC-3976-4E02-AE24-5F91EE80291E}" destId="{E2A3EE71-E335-4673-8FC1-A5BE17964743}" srcOrd="3" destOrd="0" presId="urn:microsoft.com/office/officeart/2005/8/layout/pyramid2"/>
    <dgm:cxn modelId="{DBF700A6-8F7D-4CEE-AEEB-68E93459DE66}" type="presParOf" srcId="{FF79C2AC-3976-4E02-AE24-5F91EE80291E}" destId="{81413557-B0A8-4131-97E7-F1775ACF9E57}" srcOrd="4" destOrd="0" presId="urn:microsoft.com/office/officeart/2005/8/layout/pyramid2"/>
    <dgm:cxn modelId="{BF5617C2-3248-4510-8C36-E7BB47C5E195}" type="presParOf" srcId="{FF79C2AC-3976-4E02-AE24-5F91EE80291E}" destId="{FA22E6E7-916B-48D2-81E0-1E2BE06941D2}" srcOrd="5" destOrd="0" presId="urn:microsoft.com/office/officeart/2005/8/layout/pyramid2"/>
    <dgm:cxn modelId="{0E153C89-D7CB-4C40-939A-F5346E85F18B}" type="presParOf" srcId="{FF79C2AC-3976-4E02-AE24-5F91EE80291E}" destId="{E0CC0EF3-4669-4154-AB3B-0858ECA12C24}" srcOrd="6" destOrd="0" presId="urn:microsoft.com/office/officeart/2005/8/layout/pyramid2"/>
    <dgm:cxn modelId="{3DCA5A8D-00EA-49EB-ACA4-5E7EC748E85F}" type="presParOf" srcId="{FF79C2AC-3976-4E02-AE24-5F91EE80291E}" destId="{E50217E2-6B2C-410C-9BBA-9C5EC56C8719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E804A8-0637-4183-8992-A915C85798B2}">
      <dsp:nvSpPr>
        <dsp:cNvPr id="0" name=""/>
        <dsp:cNvSpPr/>
      </dsp:nvSpPr>
      <dsp:spPr>
        <a:xfrm>
          <a:off x="1308267" y="0"/>
          <a:ext cx="1928826" cy="1928826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3A15F-B8E6-4F63-BB9C-90ED6BCEB1AF}">
      <dsp:nvSpPr>
        <dsp:cNvPr id="0" name=""/>
        <dsp:cNvSpPr/>
      </dsp:nvSpPr>
      <dsp:spPr>
        <a:xfrm>
          <a:off x="1749514" y="193070"/>
          <a:ext cx="2300068" cy="34281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  <a:latin typeface="Verdana" pitchFamily="34" charset="0"/>
            </a:rPr>
            <a:t>UDDL</a:t>
          </a:r>
          <a:endParaRPr lang="ru-RU" sz="1600" b="1" kern="1200" dirty="0">
            <a:solidFill>
              <a:srgbClr val="002060"/>
            </a:solidFill>
            <a:latin typeface="Verdana" pitchFamily="34" charset="0"/>
          </a:endParaRPr>
        </a:p>
      </dsp:txBody>
      <dsp:txXfrm>
        <a:off x="1766249" y="209805"/>
        <a:ext cx="2266598" cy="309348"/>
      </dsp:txXfrm>
    </dsp:sp>
    <dsp:sp modelId="{7D0791AA-5217-4A7D-B2EF-94F20874F0F7}">
      <dsp:nvSpPr>
        <dsp:cNvPr id="0" name=""/>
        <dsp:cNvSpPr/>
      </dsp:nvSpPr>
      <dsp:spPr>
        <a:xfrm>
          <a:off x="1749514" y="578741"/>
          <a:ext cx="2300068" cy="34281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  <a:latin typeface="Verdana" pitchFamily="34" charset="0"/>
            </a:rPr>
            <a:t>WSDL</a:t>
          </a:r>
          <a:endParaRPr lang="ru-RU" sz="1600" b="1" kern="1200" dirty="0">
            <a:solidFill>
              <a:srgbClr val="002060"/>
            </a:solidFill>
            <a:latin typeface="Verdana" pitchFamily="34" charset="0"/>
          </a:endParaRPr>
        </a:p>
      </dsp:txBody>
      <dsp:txXfrm>
        <a:off x="1766249" y="595476"/>
        <a:ext cx="2266598" cy="309348"/>
      </dsp:txXfrm>
    </dsp:sp>
    <dsp:sp modelId="{81413557-B0A8-4131-97E7-F1775ACF9E57}">
      <dsp:nvSpPr>
        <dsp:cNvPr id="0" name=""/>
        <dsp:cNvSpPr/>
      </dsp:nvSpPr>
      <dsp:spPr>
        <a:xfrm>
          <a:off x="1749514" y="964413"/>
          <a:ext cx="2300068" cy="34281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  <a:latin typeface="Verdana" pitchFamily="34" charset="0"/>
            </a:rPr>
            <a:t>SOAP</a:t>
          </a:r>
          <a:endParaRPr lang="ru-RU" sz="1600" b="1" kern="1200" dirty="0">
            <a:solidFill>
              <a:srgbClr val="002060"/>
            </a:solidFill>
            <a:latin typeface="Verdana" pitchFamily="34" charset="0"/>
          </a:endParaRPr>
        </a:p>
      </dsp:txBody>
      <dsp:txXfrm>
        <a:off x="1766249" y="981148"/>
        <a:ext cx="2266598" cy="309348"/>
      </dsp:txXfrm>
    </dsp:sp>
    <dsp:sp modelId="{E0CC0EF3-4669-4154-AB3B-0858ECA12C24}">
      <dsp:nvSpPr>
        <dsp:cNvPr id="0" name=""/>
        <dsp:cNvSpPr/>
      </dsp:nvSpPr>
      <dsp:spPr>
        <a:xfrm>
          <a:off x="1749514" y="1350084"/>
          <a:ext cx="2300068" cy="342818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solidFill>
                <a:srgbClr val="002060"/>
              </a:solidFill>
              <a:latin typeface="Verdana" pitchFamily="34" charset="0"/>
            </a:rPr>
            <a:t>XML</a:t>
          </a:r>
          <a:endParaRPr lang="ru-RU" sz="1600" b="1" kern="1200" dirty="0">
            <a:solidFill>
              <a:srgbClr val="002060"/>
            </a:solidFill>
            <a:latin typeface="Verdana" pitchFamily="34" charset="0"/>
          </a:endParaRPr>
        </a:p>
      </dsp:txBody>
      <dsp:txXfrm>
        <a:off x="1766249" y="1366819"/>
        <a:ext cx="2266598" cy="3093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277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70EB51C3-D9A4-41A9-B590-4C0D2808CFB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667714A1-B37F-4FDD-9553-DB7CCCE7A8EA}" type="datetimeFigureOut">
              <a:rPr lang="ru-RU"/>
              <a:pPr>
                <a:defRPr/>
              </a:pPr>
              <a:t>12.05.2021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4A03EC6-E232-40E6-812D-90F111DF15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88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20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21</a:t>
            </a:fld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22</a:t>
            </a:fld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23</a:t>
            </a:fld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24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25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26</a:t>
            </a:fld>
            <a:endParaRPr lang="ru-RU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27</a:t>
            </a:fld>
            <a:endParaRPr lang="ru-RU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28</a:t>
            </a:fld>
            <a:endParaRPr lang="ru-RU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29</a:t>
            </a:fld>
            <a:endParaRPr lang="ru-RU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30</a:t>
            </a:fld>
            <a:endParaRPr lang="ru-RU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Заметки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/>
          </a:p>
        </p:txBody>
      </p:sp>
      <p:sp>
        <p:nvSpPr>
          <p:cNvPr id="40964" name="Номер слайда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F971FCD-13F6-47D3-9BC9-E9CAB0694B3D}" type="slidenum">
              <a:rPr lang="ru-RU" smtClean="0"/>
              <a:pPr/>
              <a:t>52</a:t>
            </a:fld>
            <a:endParaRPr lang="ru-RU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0431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3C8B37-BE11-4842-AB60-B40A1A7C33A9}" type="slidenum">
              <a:rPr lang="ru-RU" smtClean="0"/>
              <a:pPr/>
              <a:t>58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3"/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57 w 64000"/>
                <a:gd name="T1" fmla="*/ -38 h 64000"/>
                <a:gd name="T2" fmla="*/ 83 w 64000"/>
                <a:gd name="T3" fmla="*/ 0 h 64000"/>
                <a:gd name="T4" fmla="*/ 57 w 64000"/>
                <a:gd name="T5" fmla="*/ 38 h 64000"/>
                <a:gd name="T6" fmla="*/ 57 w 64000"/>
                <a:gd name="T7" fmla="*/ 38 h 64000"/>
                <a:gd name="T8" fmla="*/ 57 w 64000"/>
                <a:gd name="T9" fmla="*/ 38 h 64000"/>
                <a:gd name="T10" fmla="*/ 57 w 64000"/>
                <a:gd name="T11" fmla="*/ 38 h 64000"/>
                <a:gd name="T12" fmla="*/ 57 w 64000"/>
                <a:gd name="T13" fmla="*/ -38 h 64000"/>
                <a:gd name="T14" fmla="*/ 57 w 64000"/>
                <a:gd name="T15" fmla="*/ -38 h 64000"/>
                <a:gd name="T16" fmla="*/ 57 w 64000"/>
                <a:gd name="T17" fmla="*/ -38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81 w 64000"/>
                <a:gd name="T1" fmla="*/ -41 h 64000"/>
                <a:gd name="T2" fmla="*/ 101 w 64000"/>
                <a:gd name="T3" fmla="*/ 0 h 64000"/>
                <a:gd name="T4" fmla="*/ 81 w 64000"/>
                <a:gd name="T5" fmla="*/ 41 h 64000"/>
                <a:gd name="T6" fmla="*/ 81 w 64000"/>
                <a:gd name="T7" fmla="*/ 41 h 64000"/>
                <a:gd name="T8" fmla="*/ 81 w 64000"/>
                <a:gd name="T9" fmla="*/ 41 h 64000"/>
                <a:gd name="T10" fmla="*/ 81 w 64000"/>
                <a:gd name="T11" fmla="*/ 41 h 64000"/>
                <a:gd name="T12" fmla="*/ 81 w 64000"/>
                <a:gd name="T13" fmla="*/ -41 h 64000"/>
                <a:gd name="T14" fmla="*/ 81 w 64000"/>
                <a:gd name="T15" fmla="*/ -41 h 64000"/>
                <a:gd name="T16" fmla="*/ 81 w 64000"/>
                <a:gd name="T17" fmla="*/ -41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1270" name="Rectangle 6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8" name="Rectangle 8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" name="Rectangle 1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7C493C-E73E-4A74-8960-7456FF6327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D72BA4-E212-4194-9C11-EA23CC594E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98C69-D18F-4CF0-9136-B7B9E3886F7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20F630-F66A-48CC-805E-0B135DF8CA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63541-AC9B-4F4F-BEFD-3107D0E8005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DAAC9C-4E15-4DA1-A007-B693AD134BE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8C96D-DEE2-44D1-AE8A-C8037E9EB90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8361-BBCA-4104-BD06-220C7C2927A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0BFE6-20EE-4943-A17C-8936BB18BD7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77F244-D53C-4039-BD7E-738F92AFC7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839844-8008-497E-9F33-59DCFAF65D8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0013" y="301625"/>
            <a:ext cx="7313612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/>
          <p:cNvSpPr>
            <a:spLocks noGrp="1"/>
          </p:cNvSpPr>
          <p:nvPr>
            <p:ph type="dgm" idx="1"/>
          </p:nvPr>
        </p:nvSpPr>
        <p:spPr>
          <a:xfrm>
            <a:off x="1370013" y="1827213"/>
            <a:ext cx="7313612" cy="4114800"/>
          </a:xfrm>
        </p:spPr>
        <p:txBody>
          <a:bodyPr/>
          <a:lstStyle/>
          <a:p>
            <a:pPr lvl="0"/>
            <a:endParaRPr lang="ru-RU" noProof="0"/>
          </a:p>
        </p:txBody>
      </p:sp>
      <p:sp>
        <p:nvSpPr>
          <p:cNvPr id="4" name="Rectangle 103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103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103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8664E-65FE-4AFF-9E76-84BCC1D142A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026"/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1027"/>
            <p:cNvSpPr>
              <a:spLocks noChangeArrowheads="1"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82 w 64000"/>
                <a:gd name="T1" fmla="*/ -25 h 64000"/>
                <a:gd name="T2" fmla="*/ 105 w 64000"/>
                <a:gd name="T3" fmla="*/ 0 h 64000"/>
                <a:gd name="T4" fmla="*/ 82 w 64000"/>
                <a:gd name="T5" fmla="*/ 25 h 64000"/>
                <a:gd name="T6" fmla="*/ 82 w 64000"/>
                <a:gd name="T7" fmla="*/ 25 h 64000"/>
                <a:gd name="T8" fmla="*/ 82 w 64000"/>
                <a:gd name="T9" fmla="*/ 25 h 64000"/>
                <a:gd name="T10" fmla="*/ 82 w 64000"/>
                <a:gd name="T11" fmla="*/ 25 h 64000"/>
                <a:gd name="T12" fmla="*/ 82 w 64000"/>
                <a:gd name="T13" fmla="*/ -25 h 64000"/>
                <a:gd name="T14" fmla="*/ 82 w 64000"/>
                <a:gd name="T15" fmla="*/ -25 h 64000"/>
                <a:gd name="T16" fmla="*/ 82 w 64000"/>
                <a:gd name="T17" fmla="*/ -2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33" name="AutoShape 1028"/>
            <p:cNvSpPr>
              <a:spLocks noChangeArrowheads="1"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46 w 64000"/>
                <a:gd name="T1" fmla="*/ -25 h 64000"/>
                <a:gd name="T2" fmla="*/ 59 w 64000"/>
                <a:gd name="T3" fmla="*/ 0 h 64000"/>
                <a:gd name="T4" fmla="*/ 46 w 64000"/>
                <a:gd name="T5" fmla="*/ 25 h 64000"/>
                <a:gd name="T6" fmla="*/ 46 w 64000"/>
                <a:gd name="T7" fmla="*/ 25 h 64000"/>
                <a:gd name="T8" fmla="*/ 46 w 64000"/>
                <a:gd name="T9" fmla="*/ 25 h 64000"/>
                <a:gd name="T10" fmla="*/ 46 w 64000"/>
                <a:gd name="T11" fmla="*/ 25 h 64000"/>
                <a:gd name="T12" fmla="*/ 46 w 64000"/>
                <a:gd name="T13" fmla="*/ -25 h 64000"/>
                <a:gd name="T14" fmla="*/ 46 w 64000"/>
                <a:gd name="T15" fmla="*/ -25 h 64000"/>
                <a:gd name="T16" fmla="*/ 46 w 64000"/>
                <a:gd name="T17" fmla="*/ -25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chemeClr val="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034" name="Line 1029"/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1027" name="Rectangle 1030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8" name="Rectangle 1031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48" name="Rectangle 103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49" name="Rectangle 103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250" name="Rectangle 103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56B14D2-E4CB-468C-8F1C-0EC7685B9BF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¡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¡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¡"/>
        <a:defRPr sz="19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hyperlink" Target="https://yandex.ru/turbo/spasibovsem.ru/s/ratings/interesnoe/10-samyh-populjarnyh-socialnyh-setej-v-mire-rejting-2020/#s6" TargetMode="External"/><Relationship Id="rId3" Type="http://schemas.openxmlformats.org/officeDocument/2006/relationships/hyperlink" Target="https://yandex.ru/turbo/spasibovsem.ru/s/ratings/interesnoe/10-samyh-populjarnyh-socialnyh-setej-v-mire-rejting-2020/#s1" TargetMode="External"/><Relationship Id="rId7" Type="http://schemas.openxmlformats.org/officeDocument/2006/relationships/hyperlink" Target="https://yandex.ru/turbo/spasibovsem.ru/s/ratings/interesnoe/10-samyh-populjarnyh-socialnyh-setej-v-mire-rejting-2020/#s5" TargetMode="External"/><Relationship Id="rId12" Type="http://schemas.openxmlformats.org/officeDocument/2006/relationships/hyperlink" Target="https://yandex.ru/turbo/spasibovsem.ru/s/ratings/interesnoe/10-samyh-populjarnyh-socialnyh-setej-v-mire-rejting-2020/#s10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yandex.ru/turbo/spasibovsem.ru/s/ratings/interesnoe/10-samyh-populjarnyh-socialnyh-setej-v-mire-rejting-2020/#s4" TargetMode="External"/><Relationship Id="rId11" Type="http://schemas.openxmlformats.org/officeDocument/2006/relationships/hyperlink" Target="https://yandex.ru/turbo/spasibovsem.ru/s/ratings/interesnoe/10-samyh-populjarnyh-socialnyh-setej-v-mire-rejting-2020/#s9" TargetMode="External"/><Relationship Id="rId5" Type="http://schemas.openxmlformats.org/officeDocument/2006/relationships/hyperlink" Target="https://yandex.ru/turbo/spasibovsem.ru/s/ratings/interesnoe/10-samyh-populjarnyh-socialnyh-setej-v-mire-rejting-2020/#s3" TargetMode="External"/><Relationship Id="rId10" Type="http://schemas.openxmlformats.org/officeDocument/2006/relationships/hyperlink" Target="https://yandex.ru/turbo/spasibovsem.ru/s/ratings/interesnoe/10-samyh-populjarnyh-socialnyh-setej-v-mire-rejting-2020/#s8" TargetMode="External"/><Relationship Id="rId4" Type="http://schemas.openxmlformats.org/officeDocument/2006/relationships/hyperlink" Target="https://yandex.ru/turbo/spasibovsem.ru/s/ratings/interesnoe/10-samyh-populjarnyh-socialnyh-setej-v-mire-rejting-2020/#s2" TargetMode="External"/><Relationship Id="rId9" Type="http://schemas.openxmlformats.org/officeDocument/2006/relationships/hyperlink" Target="https://yandex.ru/turbo/spasibovsem.ru/s/ratings/interesnoe/10-samyh-populjarnyh-socialnyh-setej-v-mire-rejting-2020/#s7" TargetMode="Externa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14375" y="4714875"/>
            <a:ext cx="7772400" cy="1143000"/>
          </a:xfrm>
        </p:spPr>
        <p:txBody>
          <a:bodyPr/>
          <a:lstStyle/>
          <a:p>
            <a:pPr algn="r" eaLnBrk="1" hangingPunct="1"/>
            <a:br>
              <a:rPr lang="ru-RU" sz="2900" b="1" i="1" dirty="0">
                <a:solidFill>
                  <a:srgbClr val="990000"/>
                </a:solidFill>
              </a:rPr>
            </a:br>
            <a:r>
              <a:rPr lang="ru-RU" sz="2900" b="1" i="1" dirty="0">
                <a:solidFill>
                  <a:srgbClr val="990000"/>
                </a:solidFill>
              </a:rPr>
              <a:t>Проф., д.т.н. Гусева А.И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5410200"/>
            <a:ext cx="3962400" cy="838200"/>
          </a:xfrm>
        </p:spPr>
        <p:txBody>
          <a:bodyPr/>
          <a:lstStyle/>
          <a:p>
            <a:pPr algn="r" eaLnBrk="1" hangingPunct="1"/>
            <a:endParaRPr lang="ru-RU" sz="1900" b="1" i="1">
              <a:solidFill>
                <a:srgbClr val="990000"/>
              </a:solidFill>
              <a:latin typeface="Arial" charset="0"/>
            </a:endParaRPr>
          </a:p>
          <a:p>
            <a:pPr algn="r" eaLnBrk="1" hangingPunct="1"/>
            <a:r>
              <a:rPr lang="ru-RU" sz="1900">
                <a:solidFill>
                  <a:srgbClr val="990000"/>
                </a:solidFill>
                <a:latin typeface="Arial" charset="0"/>
              </a:rPr>
              <a:t>.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533400" y="2590800"/>
            <a:ext cx="8305800" cy="24622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ru-RU" sz="4400" b="1" dirty="0">
                <a:solidFill>
                  <a:srgbClr val="99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Лекция 7. Интернет - приложения</a:t>
            </a:r>
          </a:p>
          <a:p>
            <a:pPr algn="ctr">
              <a:spcBef>
                <a:spcPct val="50000"/>
              </a:spcBef>
              <a:defRPr/>
            </a:pPr>
            <a:endParaRPr lang="ru-RU" sz="4400" b="1" dirty="0">
              <a:solidFill>
                <a:srgbClr val="99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3276600" y="617220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>
                <a:solidFill>
                  <a:schemeClr val="tx2"/>
                </a:solidFill>
                <a:latin typeface="Arial" charset="0"/>
              </a:rPr>
              <a:t>2021 г.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228600" y="571500"/>
            <a:ext cx="8915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600" b="1" dirty="0">
                <a:solidFill>
                  <a:srgbClr val="002060"/>
                </a:solidFill>
                <a:latin typeface="Times New Roman" pitchFamily="18" charset="0"/>
              </a:rPr>
              <a:t>Вычислительные системы, сети и телекоммуникации</a:t>
            </a:r>
            <a:endParaRPr lang="ru-RU" sz="3600" dirty="0">
              <a:solidFill>
                <a:srgbClr val="00206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3047181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Содержание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000100" y="1137965"/>
            <a:ext cx="7748364" cy="513986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Клиент-серверная архитектура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Двухзвенная архитектура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Трехзвенная архитектура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cs typeface="Times New Roman" pitchFamily="18" charset="0"/>
              </a:rPr>
              <a:t>Технологии RMI, CORBA и  DCOM 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Веб как архитектура «клиент-сервер»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Веб-сервер</a:t>
            </a: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и </a:t>
            </a:r>
            <a:r>
              <a:rPr lang="ru-RU" sz="16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веб-приложение</a:t>
            </a:r>
            <a:endParaRPr lang="ru-RU" sz="1600" b="1" dirty="0">
              <a:solidFill>
                <a:srgbClr val="002060"/>
              </a:solidFill>
              <a:latin typeface="Verdana" pitchFamily="34" charset="0"/>
              <a:cs typeface="Times New Roman" pitchFamily="18" charset="0"/>
            </a:endParaRP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CGI</a:t>
            </a: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спецификации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Сценарии и </a:t>
            </a:r>
            <a:r>
              <a:rPr lang="ru-RU" sz="16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апплеты</a:t>
            </a:r>
            <a:endParaRPr lang="ru-RU" sz="1600" b="1" dirty="0">
              <a:solidFill>
                <a:srgbClr val="002060"/>
              </a:solidFill>
              <a:latin typeface="Verdana" pitchFamily="34" charset="0"/>
              <a:cs typeface="Times New Roman" pitchFamily="18" charset="0"/>
            </a:endParaRP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Язык </a:t>
            </a:r>
            <a:r>
              <a:rPr lang="en-US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XML</a:t>
            </a:r>
            <a:endParaRPr lang="ru-RU" sz="1600" b="1" dirty="0">
              <a:solidFill>
                <a:srgbClr val="002060"/>
              </a:solidFill>
              <a:latin typeface="Verdana" pitchFamily="34" charset="0"/>
              <a:cs typeface="Times New Roman" pitchFamily="18" charset="0"/>
            </a:endParaRP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Веб-сервисы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Сервис-ориентированная архитектура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cs typeface="Times New Roman" pitchFamily="18" charset="0"/>
              </a:rPr>
              <a:t>Средства телекоммуникаций</a:t>
            </a:r>
          </a:p>
          <a:p>
            <a:pPr marL="288000" indent="-457200">
              <a:spcBef>
                <a:spcPts val="1200"/>
              </a:spcBef>
              <a:buFont typeface="Arial" pitchFamily="34" charset="0"/>
              <a:buChar char="•"/>
            </a:pPr>
            <a:r>
              <a:rPr lang="ru-RU" sz="1600" b="1" dirty="0">
                <a:solidFill>
                  <a:srgbClr val="002060"/>
                </a:solidFill>
                <a:cs typeface="Times New Roman" pitchFamily="18" charset="0"/>
              </a:rPr>
              <a:t>Социальные сети</a:t>
            </a:r>
            <a:endParaRPr lang="ru-RU" sz="1600" b="1" dirty="0">
              <a:solidFill>
                <a:srgbClr val="002060"/>
              </a:solidFill>
              <a:latin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6289222" cy="1125436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Двухзвенная архитектура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759098" y="1544175"/>
            <a:ext cx="7858180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Клиент-сервер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Client-server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– вычислительная или сетевая архитектура, в которой задания или сетевая нагрузка распределены между поставщиками услуг (сервисов), называемых серверами, и заказчиками услуг, называемых клиентами</a:t>
            </a:r>
          </a:p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Первоначально системы такого уровня базировались на классической двухуровневой клиент-серверной архитектуре 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Two-tier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architecture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)</a:t>
            </a:r>
          </a:p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Под клиент-серверным приложением в этом случае понимается информационная система,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основанная на использовании серверов баз данных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332656"/>
            <a:ext cx="6289222" cy="1125436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Двухзвенная архитектура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855198" y="1879083"/>
            <a:ext cx="7786742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Двухзвенная архитектура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-  используется в клиент-серверных системах, где сервер отвечает на клиентские запросы напрямую и в полном объеме, при этом используя только собственные ресурсы, т.е. сервер не вызывает сторонние сетевые приложения и не обращается к сторонним ресурсам для выполнения какой-либо части запроса</a:t>
            </a:r>
          </a:p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Данный вид архитектуры называют архитектурой с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"толстым" клиентом</a:t>
            </a:r>
          </a:p>
          <a:p>
            <a:pPr marL="288000" algn="just">
              <a:spcBef>
                <a:spcPts val="1800"/>
              </a:spcBef>
            </a:pP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6289222" cy="1125436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Двухзвенная архитектура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1000100" y="1928802"/>
            <a:ext cx="2643206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Схематически такую двухзвенную архитектуру можно представить</a:t>
            </a:r>
          </a:p>
          <a:p>
            <a:pPr marL="288000"/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следующим образом</a:t>
            </a:r>
          </a:p>
          <a:p>
            <a:pPr marL="288000"/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pic>
        <p:nvPicPr>
          <p:cNvPr id="10" name="Рисунок 9" descr="Классическое представление архитектуры &quot;клиент-сервер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1214422"/>
            <a:ext cx="4500593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 стрелкой 11"/>
          <p:cNvCxnSpPr>
            <a:stCxn id="4099" idx="3"/>
          </p:cNvCxnSpPr>
          <p:nvPr/>
        </p:nvCxnSpPr>
        <p:spPr>
          <a:xfrm flipV="1">
            <a:off x="3643306" y="2928934"/>
            <a:ext cx="1143008" cy="431029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Достоинства и недостатки двухзвенной архитектуры 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AF45244-CED5-4740-8654-99E75A1B2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ru-RU" dirty="0"/>
              <a:t>Достоинства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7F89480D-981E-4232-9FD2-02E638A74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528" y="2409825"/>
            <a:ext cx="4608512" cy="3951288"/>
          </a:xfrm>
        </p:spPr>
        <p:txBody>
          <a:bodyPr/>
          <a:lstStyle/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возможность, распределить функции вычислительной системы между несколькими независимыми компьютерами в сети</a:t>
            </a:r>
          </a:p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все данные хранятся на сервере, который защищен гораздо большинства клиентов, а также на сервере проще обеспечить контроль полномочий, чтобы разрешать доступ к данным только клиентам с соответствующими правами доступа</a:t>
            </a:r>
          </a:p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поддержка многопользовательской работы</a:t>
            </a:r>
          </a:p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гарантия целостности данных</a:t>
            </a:r>
          </a:p>
          <a:p>
            <a:endParaRPr lang="ru-RU" sz="1400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F99884C-4317-404D-B90B-21E7BBBA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ru-RU" dirty="0"/>
              <a:t>Недостатки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73948EE-F34B-40E2-B6E6-CE3BD6BA4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78697" y="2409825"/>
            <a:ext cx="4041775" cy="3951288"/>
          </a:xfrm>
        </p:spPr>
        <p:txBody>
          <a:bodyPr/>
          <a:lstStyle/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неработоспособность сервера может сделать неработоспособной всю вычислительную сеть</a:t>
            </a:r>
          </a:p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администрирование данной системы требует квалифицированного профессионала</a:t>
            </a:r>
          </a:p>
          <a:p>
            <a:pPr marL="288000" lvl="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высокая стоимость оборудования</a:t>
            </a:r>
          </a:p>
          <a:p>
            <a:pPr marL="288000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бизнес логика приложений осталась в клиентском ПО</a:t>
            </a:r>
          </a:p>
          <a:p>
            <a:endParaRPr lang="ru-RU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6186117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Трёхзвенная архитектура </a:t>
            </a:r>
          </a:p>
        </p:txBody>
      </p:sp>
      <p:sp>
        <p:nvSpPr>
          <p:cNvPr id="5123" name="Rectangle 10"/>
          <p:cNvSpPr>
            <a:spLocks noChangeArrowheads="1"/>
          </p:cNvSpPr>
          <p:nvPr/>
        </p:nvSpPr>
        <p:spPr bwMode="auto">
          <a:xfrm>
            <a:off x="967438" y="1885542"/>
            <a:ext cx="7929588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Трёхзвенная архитектура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- используется в клиент-серверных системах и предполагает наличие следующих компонентов приложения:</a:t>
            </a:r>
          </a:p>
          <a:p>
            <a:pPr marL="714375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клиентское приложение (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«тонкий клиент»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или терминал)</a:t>
            </a:r>
          </a:p>
          <a:p>
            <a:pPr marL="714375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сервер приложений</a:t>
            </a:r>
          </a:p>
          <a:p>
            <a:pPr marL="714375" indent="457200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сервер базы данных</a:t>
            </a:r>
          </a:p>
          <a:p>
            <a:pPr marL="288000">
              <a:spcBef>
                <a:spcPts val="18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6186117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Трёхзвенная архитектура </a:t>
            </a:r>
          </a:p>
        </p:txBody>
      </p:sp>
      <p:sp>
        <p:nvSpPr>
          <p:cNvPr id="5123" name="Rectangle 10"/>
          <p:cNvSpPr>
            <a:spLocks noChangeArrowheads="1"/>
          </p:cNvSpPr>
          <p:nvPr/>
        </p:nvSpPr>
        <p:spPr bwMode="auto">
          <a:xfrm>
            <a:off x="1007657" y="1472305"/>
            <a:ext cx="2643206" cy="524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Схематически такую трехзвенную архитектуру можно представить</a:t>
            </a:r>
          </a:p>
          <a:p>
            <a:pPr marL="288000"/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следующим образом</a:t>
            </a:r>
          </a:p>
          <a:p>
            <a:pPr marL="288000"/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/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Данный вид архитектуры называют архитектурой с "тонким" клиентом</a:t>
            </a:r>
          </a:p>
          <a:p>
            <a:pPr marL="288000">
              <a:spcBef>
                <a:spcPts val="18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</a:p>
        </p:txBody>
      </p:sp>
      <p:pic>
        <p:nvPicPr>
          <p:cNvPr id="10" name="Рисунок 9" descr="Представление многоуровневой архитектуры &quot;клиент-сервер&quot;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44" y="1500174"/>
            <a:ext cx="5138740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Прямая со стрелкой 11"/>
          <p:cNvCxnSpPr>
            <a:stCxn id="5123" idx="3"/>
          </p:cNvCxnSpPr>
          <p:nvPr/>
        </p:nvCxnSpPr>
        <p:spPr>
          <a:xfrm flipV="1">
            <a:off x="3650863" y="3115363"/>
            <a:ext cx="571504" cy="980737"/>
          </a:xfrm>
          <a:prstGeom prst="straightConnector1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274638"/>
            <a:ext cx="7787208" cy="1143000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Достоинства и недостатки трехзвенной архитектуры 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AF45244-CED5-4740-8654-99E75A1B2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7690" y="1417638"/>
            <a:ext cx="4040188" cy="639762"/>
          </a:xfrm>
        </p:spPr>
        <p:txBody>
          <a:bodyPr/>
          <a:lstStyle/>
          <a:p>
            <a:pPr algn="ctr"/>
            <a:r>
              <a:rPr lang="ru-RU" dirty="0"/>
              <a:t>Достоинства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7F89480D-981E-4232-9FD2-02E638A74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9512" y="2057400"/>
            <a:ext cx="4752528" cy="3951288"/>
          </a:xfrm>
        </p:spPr>
        <p:txBody>
          <a:bodyPr/>
          <a:lstStyle/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клиентское программное обеспечение не нуждается в администрировании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 err="1">
                <a:solidFill>
                  <a:srgbClr val="002060"/>
                </a:solidFill>
                <a:latin typeface="Verdana" pitchFamily="34" charset="0"/>
              </a:rPr>
              <a:t>конфигурируемость</a:t>
            </a: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– изолированность уровней друг от друга позволяет быстро и просто переконфигурировать систему при сбоях или при плановом обслуживании на одном из уровней</a:t>
            </a:r>
          </a:p>
          <a:p>
            <a:pPr marL="28800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масштабируемость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высокая безопасность и высокая надежность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низкие требования к скорости канала (сети) между терминалами и сервером приложений</a:t>
            </a:r>
          </a:p>
          <a:p>
            <a:pPr marL="28800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низкие требования к производительности и техническим характеристикам клиентов, как следствие снижение их стоимости</a:t>
            </a:r>
          </a:p>
          <a:p>
            <a:endParaRPr lang="ru-RU" sz="1400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4F99884C-4317-404D-B90B-21E7BBBAFE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5025" y="1417638"/>
            <a:ext cx="4041775" cy="639762"/>
          </a:xfrm>
        </p:spPr>
        <p:txBody>
          <a:bodyPr/>
          <a:lstStyle/>
          <a:p>
            <a:pPr algn="ctr"/>
            <a:r>
              <a:rPr lang="ru-RU" dirty="0"/>
              <a:t>Недостатки</a:t>
            </a:r>
          </a:p>
        </p:txBody>
      </p:sp>
      <p:sp>
        <p:nvSpPr>
          <p:cNvPr id="13" name="Объект 12">
            <a:extLst>
              <a:ext uri="{FF2B5EF4-FFF2-40B4-BE49-F238E27FC236}">
                <a16:creationId xmlns:a16="http://schemas.microsoft.com/office/drawing/2014/main" id="{B73948EE-F34B-40E2-B6E6-CE3BD6BA4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6056" y="2204864"/>
            <a:ext cx="3754252" cy="3951288"/>
          </a:xfrm>
        </p:spPr>
        <p:txBody>
          <a:bodyPr/>
          <a:lstStyle/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растет сложность серверной части и, как следствие, затраты на администрирование и обслуживание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более высокая сложность создания приложений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сложнее в разворачивании и администрировании</a:t>
            </a:r>
          </a:p>
          <a:p>
            <a:pPr marL="288000" lvl="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высокие требования к производительности серверов приложений и сервера базы данных, и высокая стоимость серверного оборудования</a:t>
            </a:r>
          </a:p>
          <a:p>
            <a:pPr marL="288000" indent="457200" algn="just">
              <a:spcBef>
                <a:spcPts val="900"/>
              </a:spcBef>
              <a:buFont typeface="Arial" pitchFamily="34" charset="0"/>
              <a:buChar char="•"/>
            </a:pPr>
            <a:r>
              <a:rPr lang="ru-RU" sz="1400" b="1" dirty="0">
                <a:solidFill>
                  <a:srgbClr val="002060"/>
                </a:solidFill>
                <a:latin typeface="Verdana" pitchFamily="34" charset="0"/>
              </a:rPr>
              <a:t> высокие требования к скорости канала (сети) между сервером базы данных и серверами приложений</a:t>
            </a:r>
          </a:p>
          <a:p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090600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102179" y="404664"/>
            <a:ext cx="7284366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Историческая справка: </a:t>
            </a:r>
            <a:b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CORBA, DCOM и  RMI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815287" y="1844824"/>
            <a:ext cx="785815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Использование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трехзвенной модели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распределенных вычислений позволила сделать прикладные системы масштабируемыми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Для обеспечения совместимости приложений, на рынок был выпущено программное обеспечение нового уровня </a:t>
            </a:r>
            <a:r>
              <a:rPr lang="en-US" b="1" dirty="0">
                <a:solidFill>
                  <a:srgbClr val="002060"/>
                </a:solidFill>
                <a:latin typeface="Verdana" pitchFamily="34" charset="0"/>
              </a:rPr>
              <a:t>-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Verdana" pitchFamily="34" charset="0"/>
              </a:rPr>
              <a:t>middleware</a:t>
            </a:r>
            <a:endParaRPr lang="ru-RU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Это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промежуточное ПО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скрывает различия между типами сетевых узлов и размещается над операционными системами и сетевыми службами, обслуживая находящиеся на более высоком уровне приложения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Используя объектно-ориентированную модель, промежуточные программные продукты 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CORBA, DCOM и  RMI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настоящее время являются наиболее популярным программным обеспечением этого класса</a:t>
            </a:r>
          </a:p>
        </p:txBody>
      </p:sp>
    </p:spTree>
    <p:extLst>
      <p:ext uri="{BB962C8B-B14F-4D97-AF65-F5344CB8AC3E}">
        <p14:creationId xmlns:p14="http://schemas.microsoft.com/office/powerpoint/2010/main" val="1575641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3843424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RMI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914449" y="2132856"/>
            <a:ext cx="7858150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Технология вызова удаленных методов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RMI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Remote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Method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Invocation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позволяет создавать распределенные приложения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Java-to-Java</a:t>
            </a:r>
            <a:endParaRPr lang="ru-RU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них методы удаленных Java-объектов могут вызываться из других виртуальных машин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Java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(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JVM)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находящихся на различных узлах сети</a:t>
            </a: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Java-программа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может выполнить вызов удаленного объекта после получения на него ссылки, либо выполнив поиск удаленного объекта в самозагружаемом пространстве имен, предлагаемом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RMI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либо получив ссылку в качестве аргумента или возвращаемого значения</a:t>
            </a:r>
          </a:p>
        </p:txBody>
      </p:sp>
    </p:spTree>
    <p:extLst>
      <p:ext uri="{BB962C8B-B14F-4D97-AF65-F5344CB8AC3E}">
        <p14:creationId xmlns:p14="http://schemas.microsoft.com/office/powerpoint/2010/main" val="3971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3843424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RMI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17080" y="1988840"/>
            <a:ext cx="7858150" cy="3277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Клиен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 может вызвать удаленный объект на сервере</a:t>
            </a: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Этот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сервер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в свою очередь тоже может быть клиентом для других удаленных объектов</a:t>
            </a: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RMI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использует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сериализацию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объектов, чтобы упорядочить и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разупорядочить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их параметры и предотвратить усечение типов, поддерживая объектно-ориентированный полиморфизм</a:t>
            </a: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Для коммуникаций используется протокол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JRMP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Java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Remote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Method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Protocol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0425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403648" y="332656"/>
            <a:ext cx="4696991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CORBA 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323528" y="1448261"/>
            <a:ext cx="8507326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CORBA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представляет собой основанное на открытых стандартах решение для выполнения распределенных вычислений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Промышленный консорциум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OMG (группа по развитию стандартов управления программными объектами)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разработал спецификацию для CORBA и определил протокол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Internet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InterORB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Protocol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(IIOP),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являющийся стандартным протоколом коммуникации между диспетчерами объектных запросов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ORB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Object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Request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Brokers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Основное преимущество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CORBA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состоит в том, что и клиенты, и серверы могут быть написаны на любом языке программирования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Это становится возможным, поскольку объекты определяются с высоким уровнем абстракции, обеспечиваемым языком определения интерфейса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IDL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Interface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Definition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Language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680373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4696991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CORBA 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467544" y="1916832"/>
            <a:ext cx="8428847" cy="458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Взаимодействия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между объектами, клиентами и серверами обрабатываются с помощью диспетчеров объектных запросов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ORB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Для охвата различных областей применения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CORBA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использует так называемые  «сервисы»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Сервисы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сильно утяжеляют спецификацию, делает ее очень сложной; кроме того, до сих пор поставщиками выпущен относительно небольшой набор таких сервисов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Чтобы обеспечить взаимодействие между клиентскими и серверными объектами,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диспетчеры объектных запросов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должны размещаться по обе стороны такого соединения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Если от распределенного приложения требуется высокая производительность, тогда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CORBA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является лучшим выбором промежуточного программного обеспечения</a:t>
            </a:r>
          </a:p>
        </p:txBody>
      </p:sp>
    </p:spTree>
    <p:extLst>
      <p:ext uri="{BB962C8B-B14F-4D97-AF65-F5344CB8AC3E}">
        <p14:creationId xmlns:p14="http://schemas.microsoft.com/office/powerpoint/2010/main" val="182549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4409284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DCOM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251520" y="1652286"/>
            <a:ext cx="8506222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Технология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DCOM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Microsoft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Distributed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Component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Object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Model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позволяет осуществлять вызовы удаленных объектов с помощью звена, надстраиваемого поверх механизма DCE RPC и взаимодействующего с оперативными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COM-сервисами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Сервер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DCOM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публикует свои методы для клиентов, поддерживая различные интерфейсы, которые пишутся на языке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IDL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Данный компилятор IDL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создает модули доступа (заместители), заглушки и скелетные элементы программы и регистрирует их в системном реестре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Кроме этого создаются библиотеки типов. Они представляют собой файлы, в которых описываются удаленные объекты и указывается, какие из них могут запрашиваться интерфейсами, обеспечиваемыми механизмом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COM</a:t>
            </a:r>
          </a:p>
        </p:txBody>
      </p:sp>
    </p:spTree>
    <p:extLst>
      <p:ext uri="{BB962C8B-B14F-4D97-AF65-F5344CB8AC3E}">
        <p14:creationId xmlns:p14="http://schemas.microsoft.com/office/powerpoint/2010/main" val="3484632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4409284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Технология DCOM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1000108"/>
            <a:ext cx="7858150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Для взаимодействия используется протокол вызовов удаленных объектных процедур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ORPC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Object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Remote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Procedure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Call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Спецификация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DCOM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на двоичном уровне позволяет использовать различные языки для программирования серверных объектов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Также как и RMI, технология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DCOM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поддерживает распределенный механизм регенерации памяти, освобождаемой удаленными серверными объектами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Это достигается благодаря использованию механизма опроса, проверяющего, по-прежнему ли активно подключение клиента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На серверной стороне для клиентов поддерживается соответствующий счетчик ссылок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Если показываемое им значение сокращается до нуля, происходит освобождение ресурсов, занимаемых объектом</a:t>
            </a:r>
          </a:p>
        </p:txBody>
      </p:sp>
    </p:spTree>
    <p:extLst>
      <p:ext uri="{BB962C8B-B14F-4D97-AF65-F5344CB8AC3E}">
        <p14:creationId xmlns:p14="http://schemas.microsoft.com/office/powerpoint/2010/main" val="382714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42852"/>
            <a:ext cx="6936514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Веб - как архитектура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«клиент-сервер» 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1000100" y="1916832"/>
            <a:ext cx="7715304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Базовым протоколом сети гипертекстовых ресурсов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является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протокол HTTP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HyperText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Transfer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Protocol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)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основу которого положено взаимодействие «клиент-сервер»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В этом случае  предполагается, что:</a:t>
            </a:r>
          </a:p>
          <a:p>
            <a:pPr marL="714375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Потребитель-клиент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инициировав соединение с поставщиком-сервером, посылает ему запрос</a:t>
            </a:r>
          </a:p>
          <a:p>
            <a:pPr marL="714375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Поставщик-сервер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получив запрос, производит необходимые действия и возвращает обратно клиенту ответ с результатом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42852"/>
            <a:ext cx="5080750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Веб-как</a:t>
            </a: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 архитектура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«клиент-сервер» 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1000643" y="1988840"/>
            <a:ext cx="7929618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При этом возможны два способа организации работы компьютера-клиента:</a:t>
            </a:r>
          </a:p>
          <a:p>
            <a:pPr marL="714375" lvl="1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Тонкий клиент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- это компьютер-клиент, который переносит все задачи по обработке информации на сервер; примером тонкого клиента может служить компьютер с браузером, использующийся для работы с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веб-приложениями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  <a:p>
            <a:pPr marL="714375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Толстый клиент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напротив, производит обработку информации независимо от сервера, использует последний в основном лишь для хранения данных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00229"/>
            <a:ext cx="5224507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Веб-сервер и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веб-приложение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827584" y="1484784"/>
            <a:ext cx="8174142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Веб-сервер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- это сервер, подключенный к сети интернет, предоставляющий, находящиеся на нем файлы по запросу программ – клиентов ( как правило, браузеров), используя  HTTP-протокол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Веб-сервером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называют как программное обеспечение, которое выдает запрошенную информацию, так и сам сервер (мощный компьютер), на котором это программное обеспечение работает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Самые распространенные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веб-сервера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: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Apache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IIS от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Microsoft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iPlanet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server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от компаний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Netscape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Sun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Сейчас на рынке ПО для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веб-серверов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существует огромное разнообразие продуктов, как коммерческих, так и бесплатных приложений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42852"/>
            <a:ext cx="4707764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СGI спецификации 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611560" y="1772816"/>
            <a:ext cx="8325503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Спецификация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СGI  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</a:rPr>
              <a:t>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Сommon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Gateway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Interface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</a:rPr>
              <a:t>)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предназначена для обмена информацией между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веб-сервером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CGI- программой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Программа CGI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– это любая программа, написанная на любом языке программирования, как то  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C, Perl, Java, Visual Basic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и 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предназначенная для приема и возвращения данных в соответствии со спецификацией  CGI 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CGI-программы являются одним из наиболее распространенным способом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динамического взаимодействия веб-серверов  с пользователями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Обработка данных программой CGI всегда происходит на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веб-сервере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42852"/>
            <a:ext cx="4707764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СGI спецификации 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525120" y="1988840"/>
            <a:ext cx="8093760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Код программы, работающей на сервере,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не передается клиенту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При получении от клиента специального запроса, предполагающего выполнение такой программы, сервер запускает ее и передает параметры, входящие в состав запроса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Средства для генерации подобного запроса обычно входят в состав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HTML-документа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Результаты своей работы программа оформляет в виде HTML-документа и передает их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веб-серверу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а последний, в свою очередь, дополняет полученные данные HTTP-заголовком и передает их клиенту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7907" y="256464"/>
            <a:ext cx="7188186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Выполнение программ </a:t>
            </a:r>
            <a:b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на сервере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251520" y="5688465"/>
            <a:ext cx="392909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Взаимодействие клиента и сервера по спецификации 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CGI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pic>
        <p:nvPicPr>
          <p:cNvPr id="10" name="Рисунок 9" descr="Взаимодействие клиента с программой, выполняющейся на сервере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5856" y="1772816"/>
            <a:ext cx="5328592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475656" y="320982"/>
            <a:ext cx="485325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Сценарии и </a:t>
            </a: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427171" y="1988840"/>
            <a:ext cx="8289658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Другой, не менее  распространенный способ обеспечить динамическую обратную связь для веб-пользователей, состоит  в использовании </a:t>
            </a:r>
            <a:r>
              <a:rPr lang="ru-RU" sz="2000" b="1" dirty="0">
                <a:solidFill>
                  <a:srgbClr val="CC0000"/>
                </a:solidFill>
                <a:latin typeface="Verdana" pitchFamily="34" charset="0"/>
              </a:rPr>
              <a:t>с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ценариев, или программ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которые выполняются на машине пользователя, а не веб-сервере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Эти программы могут быть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-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апплеты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,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скрипты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 или элементы управления 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</a:rPr>
              <a:t>ActiveX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Эти технологии известны как клиентские решения, в то время как использование CGI является серверным решением, поскольку обработка происходит на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веб-сервере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688" y="404664"/>
            <a:ext cx="485325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Сценарии и </a:t>
            </a: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467544" y="1513740"/>
            <a:ext cx="8436857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Ко всем программам, которые передаются с сервера на клиентские машины и запускаются на выполнение, предъявляется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важнейшее требование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: эти программы должны быть лишены возможности обращаться к ресурсам компьютера, на котором они выполняются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Такое требование вполне обосновано, т.к. передача по сети и запуск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Java-апплетов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JavaScript-сценариев происходит автоматически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без участия пользовател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я, поэтому работа этих программ должна быть абсолютно безопасной для компьютера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Следовательно,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языки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предназначенные для создания программ, выполняющихся на клиенте,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должны быть абсолютно непригодны для написания вирусов и подобных программ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99792" y="408898"/>
            <a:ext cx="2434897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Сценарии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827584" y="1916832"/>
            <a:ext cx="7929618" cy="363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Одним из типов программ, предназначенных для выполнения на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клиент-машине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являются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сценарии,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например,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JavaScript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 или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VBScript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Исходный текст сценария представляет собой часть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веб-страницы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поэтому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сценарий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JavaScript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передается клиенту вместе с документом, в состав которого он входит </a:t>
            </a:r>
          </a:p>
          <a:p>
            <a:pPr marL="288000" algn="just">
              <a:spcBef>
                <a:spcPts val="18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Обрабатывая HTML-документ,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браузер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обнаруживает исходный текст сценария и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запускает его на выполнение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627784" y="332656"/>
            <a:ext cx="2173415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539552" y="1710680"/>
            <a:ext cx="8368793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Создание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насыщенных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интернет-приложений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Rich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Internet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application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– еще один подход для полной или частичной реализации пользовательского интерфейса, который заключается в использовании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Adobe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Flash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или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Java-апплетов</a:t>
            </a:r>
            <a:endParaRPr lang="ru-RU" sz="2000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Использование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апплетов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обусловлено тем, что в рамках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веб-приложений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"тонким" клиентом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взаимодействие пользователя с приложением реализуется через сервер, что требует отправки данных на сервер, получение ответа от сервера и перезагрузку страницы на стороне клиента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используются для предоставления интерактивных возможностей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веб-приложений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которые не возможны в 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1432" y="436975"/>
            <a:ext cx="2173415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450203" y="2636912"/>
            <a:ext cx="2714644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В силу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платформо-независимости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байт-код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Java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Java-апплеты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могут выполняться браузерами на многих операционных платформах</a:t>
            </a:r>
          </a:p>
        </p:txBody>
      </p:sp>
      <p:pic>
        <p:nvPicPr>
          <p:cNvPr id="10" name="Рисунок 9" descr="Передача клиенту Java-апплета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63888" y="857232"/>
            <a:ext cx="5327695" cy="5740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07704" y="313959"/>
            <a:ext cx="2173415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899592" y="1700808"/>
            <a:ext cx="7929618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Java-апплет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- это программа, написанная на языке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Java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откомпилированная в байт-код, которая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выполнется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в браузере с использованием виртуальной Java-машины (JVM)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При использовании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Java-апплетов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в состав HTML-документа включается специальный дескриптор, описывающий расположение файла, содержащего код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апплета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на сервере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После того как клиент получает HTML-код документа, включающего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он генерирует дополнительный запрос серверу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После того как сервер пересылает клиенту код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апплета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,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сам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апплет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запускается на выполнение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688" y="476672"/>
            <a:ext cx="2173415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C00000"/>
                </a:solidFill>
                <a:latin typeface="+mn-lt"/>
                <a:ea typeface="+mn-ea"/>
                <a:cs typeface="+mn-cs"/>
              </a:rPr>
              <a:t>Апплеты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755576" y="2132856"/>
            <a:ext cx="7929618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Java-апплеты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предназначены для выполнения в безопасной среде с целью предотвращения их доступа к локальным ресурсам клиентского компьютера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Код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апплета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загружается с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веб-сервера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и браузер либо вставляет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апплет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в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веб-страницу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либо открывает отдельное окно с собственным пользовательским интерфейсом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апплета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. </a:t>
            </a:r>
          </a:p>
          <a:p>
            <a:pPr marL="288000" algn="just">
              <a:spcBef>
                <a:spcPts val="1200"/>
              </a:spcBef>
            </a:pP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Апплет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может быть внедрен в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веб-страницу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 помощью  соответствующего HTML тэга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619672" y="260648"/>
            <a:ext cx="2547492" cy="608500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Язык </a:t>
            </a:r>
            <a:r>
              <a:rPr lang="en-US" sz="4000" b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XML</a:t>
            </a:r>
            <a:endParaRPr lang="ru-RU" sz="4000" b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323528" y="1810481"/>
            <a:ext cx="8505682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Развитием языка гипертекстовой разметки HTML является язык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XML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eXtensible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Markup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Language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),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предназначенный для хранения структурированных данных, для обмена информацией между программами, а также для создания на его основе специализированных языков разметки</a:t>
            </a:r>
          </a:p>
          <a:p>
            <a:pPr marL="288000" algn="just">
              <a:spcBef>
                <a:spcPts val="1200"/>
              </a:spcBef>
            </a:pPr>
            <a:r>
              <a:rPr lang="en-US" sz="2000" b="1" dirty="0">
                <a:solidFill>
                  <a:srgbClr val="C00000"/>
                </a:solidFill>
                <a:latin typeface="Verdana" pitchFamily="34" charset="0"/>
              </a:rPr>
              <a:t>XML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-  это формат, основанный на международных стандартах и не зависит от платформы </a:t>
            </a:r>
          </a:p>
          <a:p>
            <a:pPr marL="288000" lvl="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Иерархическая структура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XML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подходит для описания практически любых типов документов</a:t>
            </a:r>
          </a:p>
          <a:p>
            <a:pPr marL="288000" lvl="0" algn="just"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Представляет собой простой текст,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свободный от лицензирования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 каких-либо ограничений</a:t>
            </a:r>
          </a:p>
          <a:p>
            <a:pPr marL="288000" algn="just">
              <a:spcBef>
                <a:spcPts val="1200"/>
              </a:spcBef>
            </a:pP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3116559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Веб-сервисы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1988840"/>
            <a:ext cx="7858150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Веб-сервис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service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— программная система, имеющая идентификатор URI, и общедоступные интерфейсы которой определены на языке XML</a:t>
            </a:r>
          </a:p>
          <a:p>
            <a:pPr marL="28800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Описание этой программной системы может быть найдено другими приложениями, которые могут взаимодействовать с ней в соответствии с этим описанием посредством сообщений,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основанных на XML, и передаваемых с помощью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интернет-протоколов</a:t>
            </a:r>
            <a:endParaRPr lang="ru-RU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algn="just">
              <a:spcBef>
                <a:spcPts val="18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Веб-сервис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является единицей модульности при использовании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сервис-ориентированной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архитектуры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приложения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3116559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Веб-сервисы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1988840"/>
            <a:ext cx="7786742" cy="4139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</a:pP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представляют собой  еще одну парадигму для распределенных приложений и состоят их тех же самых трех компонентов:</a:t>
            </a:r>
          </a:p>
          <a:p>
            <a:pPr marL="714375" lvl="0" indent="447675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Сервисного агента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играющего роль поисковой службы между поставщиком и инициатором сервисного запроса</a:t>
            </a:r>
          </a:p>
          <a:p>
            <a:pPr marL="714375" lvl="0" indent="447675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Поставщика 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который публикует свои сервисы для сервисного агента</a:t>
            </a:r>
          </a:p>
          <a:p>
            <a:pPr marL="714375" lvl="0" indent="447675" algn="just">
              <a:spcBef>
                <a:spcPts val="18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Инициатора сервисного запроса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который запрашивает у сервисного информацию агента о том, где найти подходящего поставщика сервисов, а затем связывается с этим поставщиком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3116559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Веб-сервисы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1214422"/>
            <a:ext cx="785815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lvl="0" algn="just">
              <a:spcBef>
                <a:spcPts val="18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Инициатор сервисного запроса запрашивает у сервисного информацию агента о том, где найти подходящего поставщика сервисов, а затем связывается с этим поставщиком</a:t>
            </a:r>
          </a:p>
        </p:txBody>
      </p:sp>
      <p:pic>
        <p:nvPicPr>
          <p:cNvPr id="2069" name="Picture 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571744"/>
            <a:ext cx="6619875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6300636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Достоинства 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340643" y="1844824"/>
            <a:ext cx="8462714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30900" indent="-342900" algn="just">
              <a:spcBef>
                <a:spcPts val="1800"/>
              </a:spcBef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Открытость стандартов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. В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веб-сервисах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отсутствуют какие-либо скрытые или недоступные элементы, каждый аспект технологии, от способа поиска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до ее описания и организации связи с ней, определен общедоступными стандартами</a:t>
            </a:r>
          </a:p>
          <a:p>
            <a:pPr marL="630900" indent="-342900" algn="just">
              <a:spcBef>
                <a:spcPts val="1800"/>
              </a:spcBef>
              <a:buFont typeface="+mj-lt"/>
              <a:buAutoNum type="arabicPeriod"/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Межплатформенность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. Язык программирования, который позволяет создавать XML-документы и отправлять информацию посредством HTTP, позволяет взаимодействовать с любым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веб-сервисом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630900" indent="-342900" algn="just">
              <a:spcBef>
                <a:spcPts val="1800"/>
              </a:spcBef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Простота и  поддержка сообщений на понятном человеку языке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. Переход от двоичных стандартов, применяемых в СОМ и CORBA, к XML-тексту позволил упростить исправление ошибок и обеспечил возможность осуществлять взаимодействие с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веб-сервисами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по обычным каналам HTTP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43608" y="188640"/>
            <a:ext cx="6173293" cy="1125436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Сервис-ориентированная</a:t>
            </a: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 </a:t>
            </a:r>
            <a:b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архитектура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395536" y="1844824"/>
            <a:ext cx="8462714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Сервис-ориентированная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архитектура SOA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service-oriented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architecture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— модульный подход к разработке программного обеспечения, основанный на использовании сервисов со стандартизированными интерфейсами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основе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лежат принципы многократного использования функциональных элементов ИТ, унификации типовых операционных процессов 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Компоненты программы могут быть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распределены по разным узлам сети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 предлагаются как независимые и слабо связанные, заменяемые сервисы-приложения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Интерфейс компонентов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SОА-программы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осуществляет инкапсуляцию деталей реализации конкретного компонента (ОС, языка программирования и т. п.)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0"/>
            <a:ext cx="6173293" cy="1125436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Сервис-ориентированная</a:t>
            </a: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 </a:t>
            </a:r>
            <a:b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архитектура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755576" y="1628800"/>
            <a:ext cx="7858150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хорошо зарекомендовала себя при построении крупных корпоративных программных систем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Целый ряд разработчиков и интеграторов предлагают инструменты и решения на основе SOA (например, платформы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Microsoft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.NET , IBM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WebSphere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SAP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NetWeaver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Diasoft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и др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.)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Работа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составляющих основу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построена на использовании нескольких открытых стандартов, образующих 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стек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веб-сервисов</a:t>
            </a:r>
            <a:endParaRPr lang="ru-RU" b="1" dirty="0">
              <a:solidFill>
                <a:srgbClr val="C00000"/>
              </a:solidFill>
              <a:latin typeface="Verdana" pitchFamily="34" charset="0"/>
            </a:endParaRPr>
          </a:p>
        </p:txBody>
      </p:sp>
      <p:graphicFrame>
        <p:nvGraphicFramePr>
          <p:cNvPr id="16" name="Схема 15"/>
          <p:cNvGraphicFramePr/>
          <p:nvPr>
            <p:extLst>
              <p:ext uri="{D42A27DB-BD31-4B8C-83A1-F6EECF244321}">
                <p14:modId xmlns:p14="http://schemas.microsoft.com/office/powerpoint/2010/main" val="2992278831"/>
              </p:ext>
            </p:extLst>
          </p:nvPr>
        </p:nvGraphicFramePr>
        <p:xfrm>
          <a:off x="2339752" y="4607727"/>
          <a:ext cx="5357850" cy="192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5913285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Стандарты  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2132856"/>
            <a:ext cx="7858150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lvl="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XML </a:t>
            </a:r>
            <a:r>
              <a:rPr lang="en-US" b="1" dirty="0">
                <a:solidFill>
                  <a:srgbClr val="C00000"/>
                </a:solidFill>
                <a:latin typeface="Verdana" pitchFamily="34" charset="0"/>
              </a:rPr>
              <a:t>(Extensible Markup Language)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– язык расширяемой  разметки, предназначенный для хранения и передачи структурированных данных</a:t>
            </a:r>
          </a:p>
          <a:p>
            <a:pPr marL="288000" lvl="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SOAP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Simple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Object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Access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Protocol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-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протокол обмена сообщениями на базе XML</a:t>
            </a:r>
          </a:p>
          <a:p>
            <a:pPr marL="288000" lvl="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WSDL </a:t>
            </a:r>
            <a:r>
              <a:rPr lang="en-US" b="1" dirty="0">
                <a:solidFill>
                  <a:srgbClr val="C00000"/>
                </a:solidFill>
                <a:latin typeface="Verdana" pitchFamily="34" charset="0"/>
              </a:rPr>
              <a:t>(Web Services Definition Language)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- язык описания внешних интерфейсов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на базе XML</a:t>
            </a:r>
          </a:p>
          <a:p>
            <a:pPr marL="288000" lvl="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UDDI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Universal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Discovery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Description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and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Integration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- универсальный интерфейс распознавания, описания и интеграции универсальная интеграция поиска описаний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5913285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Стандарты  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467544" y="1700808"/>
            <a:ext cx="8534722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Каждый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предоставляет документ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WSDL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Service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Description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Language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- язык описания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веб-сервиса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в котором описывается все, что клиенту необходимо для работы с этим сервисом</a:t>
            </a:r>
            <a:endParaRPr lang="en-US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WSDL-документ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предоставляет простой и последовательный способ задания разработчиком синтаксиса вызова любого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веб-метода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позволяет использовать инструменты автоматического генерирования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прокси-классов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подобные включенным в среды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Visual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Studio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.NET и .NET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Framework</a:t>
            </a:r>
            <a:endParaRPr lang="en-US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WSDL-документ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имеет основанный на XML формат, в соответствии с которым информация подразделяется на пять групп: первые три группы представляют собой абстрактные определения, не зависящие от особенностей платформы, сети или языка, а оставшиеся две группы включают конкретные описания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5913285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Стандарты  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539552" y="1916832"/>
            <a:ext cx="835715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Связь между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веб-сервисами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их клиентами осуществляется посредством сообщений в формате XML 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SOAP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Simple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Object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Access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Protocol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- простой протокол доступа к объектам)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представляет собой протокол сообщений для выбора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Основная идея стандарта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SOAP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заключается в том, что сообщения должны быть закодированы в стандартизированном XML-формате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Спецификация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UDDI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Universal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Description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Discovery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and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Integration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- универсальное описание, поиск и интеграция)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позволяет избежать указанных проблем посредством использования специального хранилища (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репозитория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), где предприятия и организации могут размещать данные о предоставляемых ими сервисах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5913285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Стандарты  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2132856"/>
            <a:ext cx="7858150" cy="4370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Информация в этом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репозитории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UDDI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должна обновляться вручную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 этой целью некоторые "узловые операторы" хранят идентичные копии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репозитория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UDDI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хранилище UDDI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содержатся сведения о предприятиях, предоставляющих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о типе каждого сервиса и связях с информацией и спецификациями, относящимися к этим сервисам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Интерфейс UDDI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сам по себе представляет собой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Для регистрации или поиска службы следует отправить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SOAP-сообщение</a:t>
            </a:r>
            <a:endParaRPr lang="ru-RU" sz="2000" dirty="0">
              <a:solidFill>
                <a:srgbClr val="C00000"/>
              </a:solidFill>
            </a:endParaRPr>
          </a:p>
          <a:p>
            <a:endParaRPr lang="ru-RU" sz="2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0"/>
            <a:ext cx="5686108" cy="111825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Схема взаимодействия  </a:t>
            </a:r>
            <a:b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sz="4000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веб-сервисов</a:t>
            </a:r>
            <a:endParaRPr lang="ru-RU" sz="4000" b="1" dirty="0">
              <a:solidFill>
                <a:srgbClr val="892B38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827584" y="2060848"/>
            <a:ext cx="7858150" cy="4431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630900" lvl="0" indent="-342900" algn="just">
              <a:spcBef>
                <a:spcPts val="1200"/>
              </a:spcBef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Поставщик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веб-сервиса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описывает его в документе WSDL и публикует его в UDDI, используя регистрацию с помощью API для публикаций (созданного на основе SOAP) </a:t>
            </a:r>
          </a:p>
          <a:p>
            <a:pPr marL="630900" lvl="0" indent="-342900" algn="just">
              <a:spcBef>
                <a:spcPts val="1200"/>
              </a:spcBef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Инициатор сервисного запроса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использует API интерфейс запроса UDDI для поиска соответствующей регистрационной информации о подходящем поставщике сервисов. Если поставщик найден, можно выполнить поиск элемента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tModel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указывающего на данный документ WSDL</a:t>
            </a:r>
          </a:p>
          <a:p>
            <a:pPr marL="630900" lvl="0" indent="-342900" algn="just">
              <a:spcBef>
                <a:spcPts val="1200"/>
              </a:spcBef>
              <a:buFont typeface="+mj-lt"/>
              <a:buAutoNum type="arabicPeriod"/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Запрос SOAP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будет создан в соответствии с этим документом WSDL</a:t>
            </a:r>
          </a:p>
          <a:p>
            <a:pPr marL="630900" lvl="0" indent="-342900" algn="just">
              <a:spcBef>
                <a:spcPts val="1200"/>
              </a:spcBef>
              <a:buFont typeface="+mj-lt"/>
              <a:buAutoNum type="arabicPeriod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Это запрос SOAP будет отправлен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поставщику 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а полученный ответ будет обработан</a:t>
            </a:r>
            <a:endParaRPr lang="ru-RU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323528" y="142852"/>
            <a:ext cx="8534752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Примеры </a:t>
            </a:r>
            <a:r>
              <a:rPr lang="ru-RU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сервисно-ориентированной</a:t>
            </a: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 архитектуры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8254" y="1997839"/>
            <a:ext cx="785815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indent="457200" algn="just"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  <a:latin typeface="Verdana" pitchFamily="34" charset="0"/>
              </a:rPr>
              <a:t>Системы управления </a:t>
            </a:r>
            <a:r>
              <a:rPr lang="ru-RU" sz="2400" b="1" dirty="0" err="1">
                <a:solidFill>
                  <a:srgbClr val="002060"/>
                </a:solidFill>
                <a:latin typeface="Verdana" pitchFamily="34" charset="0"/>
              </a:rPr>
              <a:t>веб-контентом</a:t>
            </a:r>
            <a:endParaRPr lang="ru-RU" sz="2400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indent="457200" algn="just"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  <a:latin typeface="Verdana" pitchFamily="34" charset="0"/>
              </a:rPr>
              <a:t>Новостные ленты </a:t>
            </a:r>
            <a:r>
              <a:rPr lang="en-US" sz="2400" b="1" dirty="0">
                <a:solidFill>
                  <a:srgbClr val="002060"/>
                </a:solidFill>
                <a:latin typeface="Verdana" pitchFamily="34" charset="0"/>
              </a:rPr>
              <a:t>RSS</a:t>
            </a:r>
          </a:p>
          <a:p>
            <a:pPr marL="288000" indent="457200" algn="just"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  <a:latin typeface="Verdana" pitchFamily="34" charset="0"/>
              </a:rPr>
              <a:t>Поисковые машины</a:t>
            </a:r>
          </a:p>
          <a:p>
            <a:pPr marL="288000" indent="457200" algn="just"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ru-RU" sz="2400" b="1" dirty="0">
                <a:solidFill>
                  <a:srgbClr val="002060"/>
                </a:solidFill>
                <a:latin typeface="Verdana" pitchFamily="34" charset="0"/>
              </a:rPr>
              <a:t>Порталы</a:t>
            </a:r>
          </a:p>
          <a:p>
            <a:pPr marL="288000" indent="457200" algn="just">
              <a:spcBef>
                <a:spcPts val="1200"/>
              </a:spcBef>
              <a:spcAft>
                <a:spcPts val="600"/>
              </a:spcAft>
              <a:buFont typeface="Arial" pitchFamily="34" charset="0"/>
              <a:buChar char="•"/>
            </a:pPr>
            <a:endParaRPr lang="ru-RU" sz="2400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187624" y="260648"/>
            <a:ext cx="7316316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Системы управления </a:t>
            </a:r>
            <a:b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веб-контентом</a:t>
            </a: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 WCMS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00100" y="2276872"/>
            <a:ext cx="785815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  <a:spcAft>
                <a:spcPts val="600"/>
              </a:spcAf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Система управления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веб-контентом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content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management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system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, WCMS или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CMS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) -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програмное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обеспечения CMS класса, реализованное обычно в виде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веб-приложения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 предназначенное для создания, и управления HTML содержимым</a:t>
            </a:r>
          </a:p>
          <a:p>
            <a:pPr marL="288000" algn="just">
              <a:spcBef>
                <a:spcPts val="1200"/>
              </a:spcBef>
              <a:spcAft>
                <a:spcPts val="600"/>
              </a:spcAf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WCMS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обычно используется для управления и контроля большими, динамически изменяемыми коллекциями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веб-материала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(HTML документами и связанными с ними картинками)</a:t>
            </a:r>
          </a:p>
          <a:p>
            <a:pPr marL="288000" algn="just">
              <a:spcBef>
                <a:spcPts val="1200"/>
              </a:spcBef>
              <a:spcAft>
                <a:spcPts val="600"/>
              </a:spcAf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Такая система упрощает процесс создания, управления, редактирования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контента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многие другие важные задачи, связанные с поддержкой этих процессов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93862" y="104775"/>
            <a:ext cx="6956276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Системы управления </a:t>
            </a:r>
            <a:b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</a:br>
            <a:r>
              <a:rPr lang="ru-RU" b="1" dirty="0" err="1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веб-контентом</a:t>
            </a: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 WCMS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1060538" y="1844824"/>
            <a:ext cx="785815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WCMS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предоставляет следующие возможности:</a:t>
            </a:r>
          </a:p>
          <a:p>
            <a:pPr marL="714375" lvl="0" indent="447675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Применение автоматических шаблонов отображения (в HTML или XML формате), автоматически применяемых к новому или существующему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контенту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714375" lvl="0" indent="447675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Простота редактирования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контента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714375" lvl="0" indent="447675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Масштабируемость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возможность расширения функциональности существующего сайта путем установки поставляемых с дистрибутивом WCMS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плагинов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модулей</a:t>
            </a:r>
          </a:p>
          <a:p>
            <a:pPr marL="714375" lvl="0" indent="447675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Управление документами</a:t>
            </a:r>
            <a:endParaRPr lang="ru-RU" sz="2000" dirty="0"/>
          </a:p>
          <a:p>
            <a:pPr marL="714375" indent="447675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Визуализация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контента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Заголовок 1"/>
          <p:cNvSpPr>
            <a:spLocks noGrp="1"/>
          </p:cNvSpPr>
          <p:nvPr>
            <p:ph type="title"/>
          </p:nvPr>
        </p:nvSpPr>
        <p:spPr>
          <a:xfrm>
            <a:off x="1214343" y="523031"/>
            <a:ext cx="5690982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Новостные ленты (</a:t>
            </a:r>
            <a:r>
              <a:rPr lang="en-US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RSS</a:t>
            </a: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12291" name="Rectangle 1"/>
          <p:cNvSpPr>
            <a:spLocks noChangeArrowheads="1"/>
          </p:cNvSpPr>
          <p:nvPr/>
        </p:nvSpPr>
        <p:spPr bwMode="auto">
          <a:xfrm>
            <a:off x="611560" y="1628800"/>
            <a:ext cx="8290228" cy="498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RSS (новостная лента)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- это аббревиатура от «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Really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Simple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Syndication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», что переводится как «действительно простое получение информации»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Формат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RSS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предназначен для публикации новостей на новостных и подобных им сайтах, начиная от таких ведущих новостных сайтов, как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Wired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Slashdot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 кончая личными сетевыми дневниками, по сути, публиковать можно не только новости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После того, как информация преобразована в формат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RSS,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программа, понимающая этот формат, может вытягивать сведения о внесенных изменениях и в зависимости от результата, например, автоматически предпринимать какие-либо действия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Программы, умеющие работать с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RSS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называются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агрегаторами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 они очень популярны среди людей, ведущих сетевые дневники</a:t>
            </a:r>
            <a:r>
              <a:rPr lang="ru-RU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Заголовок 1"/>
          <p:cNvSpPr>
            <a:spLocks noGrp="1"/>
          </p:cNvSpPr>
          <p:nvPr>
            <p:ph type="title"/>
          </p:nvPr>
        </p:nvSpPr>
        <p:spPr>
          <a:xfrm>
            <a:off x="1259632" y="489441"/>
            <a:ext cx="5690982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Новостные ленты (</a:t>
            </a:r>
            <a:r>
              <a:rPr lang="en-US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RSS</a:t>
            </a: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14339" name="Rectangle 1"/>
          <p:cNvSpPr>
            <a:spLocks noChangeArrowheads="1"/>
          </p:cNvSpPr>
          <p:nvPr/>
        </p:nvSpPr>
        <p:spPr bwMode="auto">
          <a:xfrm>
            <a:off x="971600" y="1628800"/>
            <a:ext cx="7858180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Программа-агрегатор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позволяет вам собирать все эти публикации вместе, и вы получаете возможность одновременно следить за появлением новых новостей на всех сайтах сразу и читать их краткое содержание, не посещая каждый сайт в отдельности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первую очередь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RSS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предназначен для использования на очень часто обновляемых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веб-сайтах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например:</a:t>
            </a:r>
          </a:p>
          <a:p>
            <a:pPr marL="628650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Новостные сайты (списки новостей) </a:t>
            </a:r>
          </a:p>
          <a:p>
            <a:pPr marL="628650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Сайты компаний (списки новостей и продуктов) </a:t>
            </a:r>
          </a:p>
          <a:p>
            <a:pPr marL="628650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Календари (списки предстоящих событий и знаменательных дней) </a:t>
            </a:r>
          </a:p>
          <a:p>
            <a:pPr marL="628650" lvl="0" indent="457200" algn="just">
              <a:spcBef>
                <a:spcPts val="1200"/>
              </a:spcBef>
              <a:buFont typeface="Arial" pitchFamily="34" charset="0"/>
              <a:buChar char="•"/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Изменения сайтов (список обновленных и новых страниц)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4741939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Поисковые машины</a:t>
            </a:r>
          </a:p>
        </p:txBody>
      </p:sp>
      <p:sp>
        <p:nvSpPr>
          <p:cNvPr id="8195" name="Прямоугольник 4"/>
          <p:cNvSpPr>
            <a:spLocks noChangeArrowheads="1"/>
          </p:cNvSpPr>
          <p:nvPr/>
        </p:nvSpPr>
        <p:spPr bwMode="auto">
          <a:xfrm>
            <a:off x="971925" y="1844824"/>
            <a:ext cx="785815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Информационно-поисковые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системы размещаются в Интернете на общедоступных серверах</a:t>
            </a:r>
          </a:p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Основой поисковых систем являются так называемые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поисковые машины, или автоматические индексы</a:t>
            </a:r>
          </a:p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Специальные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программы-роботы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(известные также как пауки) в автоматическом режиме периодически обследуют Интернет на основе определенных алгоритмов, проводя индексацию найденных документов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4741939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Поисковые машины</a:t>
            </a:r>
          </a:p>
        </p:txBody>
      </p:sp>
      <p:sp>
        <p:nvSpPr>
          <p:cNvPr id="10243" name="Прямоугольник 4"/>
          <p:cNvSpPr>
            <a:spLocks noChangeArrowheads="1"/>
          </p:cNvSpPr>
          <p:nvPr/>
        </p:nvSpPr>
        <p:spPr bwMode="auto">
          <a:xfrm>
            <a:off x="1000100" y="2348880"/>
            <a:ext cx="785815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Поиск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ведется на основе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оригинальных и весьма сложных алгоритмов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а его результаты анализируются и сортируются таким образом, чтобы представленная пользователю информация в наибольшей степени соответствовала его ожиданиям</a:t>
            </a:r>
          </a:p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В настоящее время в развитии поисковых систем наблюдается тенденция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объединения автоматических индексных поисковых машин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и составляемых вручную каталогов Интернет-ресурсов</a:t>
            </a:r>
          </a:p>
          <a:p>
            <a:pPr marL="288000" algn="just">
              <a:spcBef>
                <a:spcPts val="1800"/>
              </a:spcBef>
              <a:spcAft>
                <a:spcPts val="6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Ресурсы этих систем удачно дополняют друг друга, в объединение их возможностей вполне логично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Заголовок 1"/>
          <p:cNvSpPr>
            <a:spLocks noGrp="1"/>
          </p:cNvSpPr>
          <p:nvPr>
            <p:ph type="title"/>
          </p:nvPr>
        </p:nvSpPr>
        <p:spPr>
          <a:xfrm>
            <a:off x="1000100" y="285728"/>
            <a:ext cx="6620723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Примеры различных систем</a:t>
            </a:r>
          </a:p>
        </p:txBody>
      </p:sp>
      <p:pic>
        <p:nvPicPr>
          <p:cNvPr id="1126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14423"/>
            <a:ext cx="3456961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00694" y="1214422"/>
            <a:ext cx="3143240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Рисунок 59" descr="http://www.feedreader.com/images/fr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2643182"/>
            <a:ext cx="5143508" cy="3539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1907704" y="323832"/>
            <a:ext cx="221086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Порталы</a:t>
            </a:r>
          </a:p>
        </p:txBody>
      </p:sp>
      <p:sp>
        <p:nvSpPr>
          <p:cNvPr id="10243" name="Прямоугольник 4"/>
          <p:cNvSpPr>
            <a:spLocks noChangeArrowheads="1"/>
          </p:cNvSpPr>
          <p:nvPr/>
        </p:nvSpPr>
        <p:spPr bwMode="auto">
          <a:xfrm>
            <a:off x="611560" y="1844824"/>
            <a:ext cx="829076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Портал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предоставляет единую точку безопасного доступа часто в форме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веб-интерфейса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и предназначен для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аггрегирования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персонализации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информации с помощью подходящих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портлетов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Портлеты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- подключаемые программные компоненты пользовательского интерфейса, управляемые и отображаемые в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веб-портале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Портлеты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генерируют фрагменты кода разметки, которые внедряются на страницу портала и страница портала представляет собой набор непересекающихся окон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портлетов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. 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Стандартизация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портлетов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нацелена на предоставление в распоряжение программиста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портлетов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которые могут быть встроены в любой портал, поддерживающий стандарты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Заголовок 1"/>
          <p:cNvSpPr>
            <a:spLocks noGrp="1"/>
          </p:cNvSpPr>
          <p:nvPr>
            <p:ph type="title"/>
          </p:nvPr>
        </p:nvSpPr>
        <p:spPr>
          <a:xfrm>
            <a:off x="1547664" y="476672"/>
            <a:ext cx="221086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Порталы</a:t>
            </a:r>
          </a:p>
        </p:txBody>
      </p:sp>
      <p:sp>
        <p:nvSpPr>
          <p:cNvPr id="10243" name="Прямоугольник 4"/>
          <p:cNvSpPr>
            <a:spLocks noChangeArrowheads="1"/>
          </p:cNvSpPr>
          <p:nvPr/>
        </p:nvSpPr>
        <p:spPr bwMode="auto">
          <a:xfrm>
            <a:off x="827584" y="1834010"/>
            <a:ext cx="7858150" cy="4862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WSRP (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Web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Services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for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Remote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Portlets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– протокол, который можно рассматривать как стандарт для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веб-сервисов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позволяющий автоматически встраивать удаленно запущенные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портлеты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из совершенно разных источников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Веб-портал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- это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веб-сайт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предоставляющий пользователю различные интерактивные сервисы, работающие в рамках одного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веб-сайта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(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веб-страницы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)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Веб-порталы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зачастую выполняют роль единой точки доступа к информации в WWW</a:t>
            </a:r>
          </a:p>
          <a:p>
            <a:pPr marL="288000" algn="just">
              <a:spcBef>
                <a:spcPts val="1200"/>
              </a:spcBef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Наряду с стандартной функцией поиска,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веб-порталы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предлагают и 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другие сервисы 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такие как электронная почта, новости, форумы, голосования и другие</a:t>
            </a:r>
          </a:p>
          <a:p>
            <a:pPr marL="288000" algn="just">
              <a:spcBef>
                <a:spcPts val="1200"/>
              </a:spcBef>
            </a:pP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25960" y="2060848"/>
            <a:ext cx="7669238" cy="4114800"/>
          </a:xfrm>
        </p:spPr>
        <p:txBody>
          <a:bodyPr>
            <a:normAutofit/>
          </a:bodyPr>
          <a:lstStyle/>
          <a:p>
            <a:pPr marL="576000" algn="just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электронная почта </a:t>
            </a:r>
          </a:p>
          <a:p>
            <a:pPr marL="576000" algn="just">
              <a:lnSpc>
                <a:spcPct val="9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ICQ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– обмен мгновенными сообщениями</a:t>
            </a:r>
          </a:p>
          <a:p>
            <a:pPr marL="576000" algn="just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теле, видео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и почтовые конференции</a:t>
            </a:r>
          </a:p>
          <a:p>
            <a:pPr marL="576000" algn="just" eaLnBrk="1" hangingPunct="1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чаты</a:t>
            </a:r>
          </a:p>
          <a:p>
            <a:pPr marL="576000" algn="just" eaLnBrk="1" hangingPunct="1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форумы</a:t>
            </a:r>
          </a:p>
          <a:p>
            <a:pPr marL="576000" algn="just" eaLnBrk="1" hangingPunct="1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доски объявлений</a:t>
            </a:r>
          </a:p>
          <a:p>
            <a:pPr marL="576000" algn="just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системы электронного голосования, заполнение активных  электронных форм</a:t>
            </a:r>
          </a:p>
          <a:p>
            <a:pPr marL="576000" algn="just" eaLnBrk="1" hangingPunct="1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вики- для работы над групповыми проектами</a:t>
            </a:r>
          </a:p>
          <a:p>
            <a:pPr marL="576000" algn="just" eaLnBrk="1" hangingPunct="1">
              <a:lnSpc>
                <a:spcPct val="90000"/>
              </a:lnSpc>
              <a:spcBef>
                <a:spcPts val="1200"/>
              </a:spcBef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публикация  или вещание в Интернет</a:t>
            </a:r>
          </a:p>
          <a:p>
            <a:pPr marL="576000" eaLnBrk="1" hangingPunct="1">
              <a:lnSpc>
                <a:spcPct val="90000"/>
              </a:lnSpc>
              <a:spcBef>
                <a:spcPts val="1200"/>
              </a:spcBef>
            </a:pP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188640"/>
            <a:ext cx="8143900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Телекоммуникационные средства общения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1" y="142852"/>
            <a:ext cx="8143900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Телекоммуникационные средства общения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217702" y="2564904"/>
            <a:ext cx="3821742" cy="2539157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eaLnBrk="0" hangingPunct="0">
              <a:spcBef>
                <a:spcPts val="18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Электронная почта</a:t>
            </a:r>
            <a:endParaRPr lang="en-US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Возникшая самой первой, эта форма обмена сообщениями продемонстрировала саму возможность общения посредством вычислительных сетей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280CE3-AB85-486E-82D0-389F935C4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9952" y="1657195"/>
            <a:ext cx="4786346" cy="4909036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0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Системы мгновенного обмена сообщениями (IM —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Instant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messaging</a:t>
            </a: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)</a:t>
            </a:r>
          </a:p>
          <a:p>
            <a:pPr marL="288000" lvl="0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Позволяют общаться с другим пользователем через сеть в режиме реального времени </a:t>
            </a:r>
          </a:p>
          <a:p>
            <a:pPr marL="288000" lvl="0" eaLnBrk="0" hangingPunct="0"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(в относительно защищенном режиме)</a:t>
            </a:r>
            <a:endParaRPr lang="en-US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lvl="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 наиболее популярным можно отнести </a:t>
            </a:r>
            <a:r>
              <a:rPr lang="en-US" b="1" dirty="0">
                <a:solidFill>
                  <a:srgbClr val="002060"/>
                </a:solidFill>
                <a:latin typeface="Verdana" pitchFamily="34" charset="0"/>
              </a:rPr>
              <a:t>Skype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ICQ, </a:t>
            </a:r>
            <a:r>
              <a:rPr lang="en-US" b="1" dirty="0">
                <a:solidFill>
                  <a:srgbClr val="002060"/>
                </a:solidFill>
                <a:latin typeface="Verdana" pitchFamily="34" charset="0"/>
              </a:rPr>
              <a:t>Yahoo!,</a:t>
            </a:r>
          </a:p>
          <a:p>
            <a:pPr marL="288000" lvl="0" eaLnBrk="0" hangingPunct="0"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MSN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Messenger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AOL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Instant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Messenger</a:t>
            </a:r>
            <a:endParaRPr lang="en-US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lvl="0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 системам, ориентированным на бизнес, относятся IBM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Lotus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Sametime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</a:t>
            </a:r>
            <a:r>
              <a:rPr lang="en-US" b="1" dirty="0">
                <a:solidFill>
                  <a:srgbClr val="002060"/>
                </a:solidFill>
                <a:latin typeface="Verdana" pitchFamily="34" charset="0"/>
              </a:rPr>
              <a:t>Microsoft Messenger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и </a:t>
            </a:r>
            <a:r>
              <a:rPr lang="en-US" b="1" dirty="0">
                <a:solidFill>
                  <a:srgbClr val="002060"/>
                </a:solidFill>
                <a:latin typeface="Verdana" pitchFamily="34" charset="0"/>
              </a:rPr>
              <a:t>Jabber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1" y="142852"/>
            <a:ext cx="8143900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Телекоммуникационные средства общения</a:t>
            </a:r>
          </a:p>
        </p:txBody>
      </p:sp>
      <p:sp>
        <p:nvSpPr>
          <p:cNvPr id="4099" name="Rectangle 10"/>
          <p:cNvSpPr>
            <a:spLocks noChangeArrowheads="1"/>
          </p:cNvSpPr>
          <p:nvPr/>
        </p:nvSpPr>
        <p:spPr bwMode="auto">
          <a:xfrm>
            <a:off x="285720" y="2186984"/>
            <a:ext cx="4000528" cy="4001095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Телеконференции или группы новостей</a:t>
            </a:r>
            <a:endParaRPr lang="en-US" b="1" dirty="0">
              <a:solidFill>
                <a:srgbClr val="C00000"/>
              </a:solidFill>
              <a:latin typeface="Verdana" pitchFamily="34" charset="0"/>
              <a:cs typeface="Times New Roman" pitchFamily="18" charset="0"/>
            </a:endParaRP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Телеконференции стали следующим этапом развития систем общения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Их особенности:</a:t>
            </a:r>
          </a:p>
          <a:p>
            <a:pPr marL="288000" eaLnBrk="0" hangingPunct="0">
              <a:spcBef>
                <a:spcPts val="600"/>
              </a:spcBef>
              <a:buFont typeface="Arial" pitchFamily="34" charset="0"/>
              <a:buChar char="•"/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хранение сообщений и предоставление заинтересованным лицам доступа ко всей истории обмена</a:t>
            </a:r>
          </a:p>
          <a:p>
            <a:pPr marL="288000" eaLnBrk="0" hangingPunct="0">
              <a:spcBef>
                <a:spcPts val="600"/>
              </a:spcBef>
              <a:buFont typeface="Arial" pitchFamily="34" charset="0"/>
              <a:buChar char="•"/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различные способы группировки сообщений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707B6149-ABED-4F05-93D3-0D1D847984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890750"/>
            <a:ext cx="4286280" cy="4593565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</a:rPr>
              <a:t>Интерактивные беседы </a:t>
            </a:r>
            <a:r>
              <a:rPr lang="en-US" b="1" dirty="0">
                <a:solidFill>
                  <a:srgbClr val="C00000"/>
                </a:solidFill>
              </a:rPr>
              <a:t>(</a:t>
            </a:r>
            <a:r>
              <a:rPr lang="ru-RU" b="1" dirty="0">
                <a:solidFill>
                  <a:srgbClr val="C00000"/>
                </a:solidFill>
              </a:rPr>
              <a:t>интернет-чаты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Специализированный сервис такого рода получил название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Internet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Relation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Chat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(IRC)</a:t>
            </a:r>
          </a:p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рамках этого сервиса общение проходит через специальные узлы в рамках общих направлений — каналов</a:t>
            </a:r>
          </a:p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Позволяют одновременно нескольким пользователям общаться в режиме реального времени</a:t>
            </a:r>
            <a:r>
              <a:rPr lang="ru-RU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endParaRPr lang="ru-RU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0"/>
            <a:ext cx="8143900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Телекоммуникационные средства общения</a:t>
            </a:r>
          </a:p>
        </p:txBody>
      </p:sp>
      <p:sp>
        <p:nvSpPr>
          <p:cNvPr id="5123" name="Rectangle 10"/>
          <p:cNvSpPr>
            <a:spLocks noChangeArrowheads="1"/>
          </p:cNvSpPr>
          <p:nvPr/>
        </p:nvSpPr>
        <p:spPr bwMode="auto">
          <a:xfrm>
            <a:off x="642910" y="2132856"/>
            <a:ext cx="3929090" cy="3924151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Гостевые книги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Первая и самая простая форма организации общения в виде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веб-приложений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Простейшая гостевая книга представляет собой список сообщений, показанных от последних к первым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Каждый посетитель может оставить свое сообщение</a:t>
            </a:r>
            <a:r>
              <a:rPr lang="ru-RU" dirty="0">
                <a:solidFill>
                  <a:schemeClr val="tx2"/>
                </a:solidFill>
                <a:cs typeface="Times New Roman" pitchFamily="18" charset="0"/>
              </a:rPr>
              <a:t> 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BD355C-A672-4FDA-A0AA-21FB06757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0960" y="1869397"/>
            <a:ext cx="3714776" cy="4670509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Форумы</a:t>
            </a:r>
          </a:p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Эта форма общения является развитием идеи телеконференций</a:t>
            </a:r>
          </a:p>
          <a:p>
            <a:pPr marL="288000" eaLnBrk="0" hangingPunct="0">
              <a:spcBef>
                <a:spcPts val="600"/>
              </a:spcBef>
              <a:spcAft>
                <a:spcPts val="300"/>
              </a:spcAft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Сообщения пользователей в форумах группируются по темам, которые задаются, как правило, первым сообщением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Все посетители могут увидеть тему и разместить свое сообщение — в ответ на уже написанные</a:t>
            </a:r>
            <a:endParaRPr lang="en-US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0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Телекоммуникационные средства общения</a:t>
            </a:r>
          </a:p>
        </p:txBody>
      </p:sp>
      <p:sp>
        <p:nvSpPr>
          <p:cNvPr id="6147" name="Rectangle 10"/>
          <p:cNvSpPr>
            <a:spLocks noChangeArrowheads="1"/>
          </p:cNvSpPr>
          <p:nvPr/>
        </p:nvSpPr>
        <p:spPr bwMode="auto">
          <a:xfrm>
            <a:off x="4182538" y="1916832"/>
            <a:ext cx="4782183" cy="4555093"/>
          </a:xfrm>
          <a:prstGeom prst="rect">
            <a:avLst/>
          </a:prstGeom>
          <a:noFill/>
          <a:ln w="9525">
            <a:solidFill>
              <a:schemeClr val="accent2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 err="1">
                <a:solidFill>
                  <a:srgbClr val="C00000"/>
                </a:solidFill>
                <a:latin typeface="Verdana" pitchFamily="34" charset="0"/>
              </a:rPr>
              <a:t>Блоги</a:t>
            </a:r>
            <a:endParaRPr lang="ru-RU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этих сервисах каждый участник ведет собственный журнал — т.е. оставляет записи в хронологическом порядке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Другие посетители могут оставлять комментарии на эти записи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На базе таких систем создаются сообщества — журналы, которые ведутся коллективно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В таком сообществе его членом может быть размещено любое сообщение по направлению деятельности сообщества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12AC70-069B-4880-B314-C325BF799315}"/>
              </a:ext>
            </a:extLst>
          </p:cNvPr>
          <p:cNvSpPr txBox="1"/>
          <p:nvPr/>
        </p:nvSpPr>
        <p:spPr>
          <a:xfrm>
            <a:off x="0" y="2963271"/>
            <a:ext cx="3821742" cy="2462213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C00000"/>
                </a:solidFill>
                <a:latin typeface="Verdana" pitchFamily="34" charset="0"/>
              </a:rPr>
              <a:t>Вики-справочники (вики) 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Веб-сайты</a:t>
            </a: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, содержимое которых может редактироваться всеми посетителями сайта</a:t>
            </a:r>
          </a:p>
          <a:p>
            <a:pPr marL="288000" eaLnBrk="0" hangingPunct="0">
              <a:spcBef>
                <a:spcPts val="600"/>
              </a:spcBef>
              <a:tabLst>
                <a:tab pos="269875" algn="l"/>
              </a:tabLst>
            </a:pPr>
            <a:r>
              <a:rPr lang="ru-RU" b="1" dirty="0">
                <a:solidFill>
                  <a:srgbClr val="002060"/>
                </a:solidFill>
                <a:latin typeface="Verdana" pitchFamily="34" charset="0"/>
              </a:rPr>
              <a:t> Наиболее известный пример — </a:t>
            </a:r>
            <a:r>
              <a:rPr lang="ru-RU" b="1" dirty="0" err="1">
                <a:solidFill>
                  <a:srgbClr val="002060"/>
                </a:solidFill>
                <a:latin typeface="Verdana" pitchFamily="34" charset="0"/>
              </a:rPr>
              <a:t>Википедия</a:t>
            </a:r>
            <a:endParaRPr lang="ru-RU" b="1" dirty="0">
              <a:solidFill>
                <a:srgbClr val="002060"/>
              </a:solidFill>
              <a:latin typeface="Verdana" pitchFamily="34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7544" y="1488205"/>
            <a:ext cx="83907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Социальная сеть направлена на построение сообществ в Интернете из людей со схожими интересами и/или деятельностью</a:t>
            </a:r>
          </a:p>
          <a:p>
            <a:pPr algn="just"/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7999361" cy="61247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446963-6E62-4BB5-93F4-338B74430576}"/>
              </a:ext>
            </a:extLst>
          </p:cNvPr>
          <p:cNvSpPr txBox="1"/>
          <p:nvPr/>
        </p:nvSpPr>
        <p:spPr>
          <a:xfrm>
            <a:off x="899592" y="2677657"/>
            <a:ext cx="71287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 Социальная сеть может существовать в формате: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Онлайн сервиса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Веб-сайта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Специализированной платформы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Мобильного приложения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Совмещать сразу несколько платформ</a:t>
            </a:r>
          </a:p>
          <a:p>
            <a:pPr algn="l"/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Назначение социальных сетей: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Общения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Обмена контентом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Отзывов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Коллективных дискуссий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Авторских записей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Полезных закладок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002060"/>
                </a:solidFill>
                <a:effectLst/>
                <a:latin typeface="Helvetica Neue"/>
              </a:rPr>
              <a:t>Объединения людей согласно кругу их интересов</a:t>
            </a:r>
          </a:p>
        </p:txBody>
      </p:sp>
    </p:spTree>
    <p:extLst>
      <p:ext uri="{BB962C8B-B14F-4D97-AF65-F5344CB8AC3E}">
        <p14:creationId xmlns:p14="http://schemas.microsoft.com/office/powerpoint/2010/main" val="21683045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7999361" cy="61247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520" y="3429000"/>
            <a:ext cx="21431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Крупнейшие социальные сети в мире 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(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2020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г.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</a:rPr>
              <a:t>)</a:t>
            </a:r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8B43836-56DD-4B74-B422-D7871E3D5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58459"/>
              </p:ext>
            </p:extLst>
          </p:nvPr>
        </p:nvGraphicFramePr>
        <p:xfrm>
          <a:off x="2610684" y="1628800"/>
          <a:ext cx="6209788" cy="4803120"/>
        </p:xfrm>
        <a:graphic>
          <a:graphicData uri="http://schemas.openxmlformats.org/drawingml/2006/table">
            <a:tbl>
              <a:tblPr/>
              <a:tblGrid>
                <a:gridCol w="3104894">
                  <a:extLst>
                    <a:ext uri="{9D8B030D-6E8A-4147-A177-3AD203B41FA5}">
                      <a16:colId xmlns:a16="http://schemas.microsoft.com/office/drawing/2014/main" val="2505509680"/>
                    </a:ext>
                  </a:extLst>
                </a:gridCol>
                <a:gridCol w="3104894">
                  <a:extLst>
                    <a:ext uri="{9D8B030D-6E8A-4147-A177-3AD203B41FA5}">
                      <a16:colId xmlns:a16="http://schemas.microsoft.com/office/drawing/2014/main" val="2161552018"/>
                    </a:ext>
                  </a:extLst>
                </a:gridCol>
              </a:tblGrid>
              <a:tr h="634396"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b="1" dirty="0">
                          <a:solidFill>
                            <a:srgbClr val="C00000"/>
                          </a:solidFill>
                          <a:effectLst/>
                        </a:rPr>
                        <a:t>Рейтинг (2020)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800" b="1" dirty="0">
                          <a:solidFill>
                            <a:srgbClr val="C00000"/>
                          </a:solidFill>
                          <a:effectLst/>
                        </a:rPr>
                        <a:t>Количество активных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959588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1. </a:t>
                      </a:r>
                      <a:r>
                        <a:rPr lang="en-US" sz="1400" b="1" u="none" strike="noStrike">
                          <a:effectLst/>
                          <a:hlinkClick r:id="rId3"/>
                        </a:rPr>
                        <a:t>Facebook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2.6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514416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2. </a:t>
                      </a:r>
                      <a:r>
                        <a:rPr lang="en-US" sz="1400" b="1" u="none" strike="noStrike">
                          <a:effectLst/>
                          <a:hlinkClick r:id="rId4"/>
                        </a:rPr>
                        <a:t>Youtube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2.0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5025051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3. </a:t>
                      </a:r>
                      <a:r>
                        <a:rPr lang="en-US" sz="1400" b="1" u="none" strike="noStrike">
                          <a:effectLst/>
                          <a:hlinkClick r:id="rId5"/>
                        </a:rPr>
                        <a:t>Instagram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1.08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288918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4. </a:t>
                      </a:r>
                      <a:r>
                        <a:rPr lang="en-US" sz="1400" b="1" u="none" strike="noStrike">
                          <a:effectLst/>
                          <a:hlinkClick r:id="rId6"/>
                        </a:rPr>
                        <a:t>TikTok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0.8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973880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5. </a:t>
                      </a:r>
                      <a:r>
                        <a:rPr lang="en-US" sz="1400" b="1" u="none" strike="noStrike">
                          <a:effectLst/>
                          <a:hlinkClick r:id="rId7"/>
                        </a:rPr>
                        <a:t>Sina Weibo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0.5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945329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6. </a:t>
                      </a:r>
                      <a:r>
                        <a:rPr lang="en-US" sz="1400" b="1" u="none" strike="noStrike">
                          <a:effectLst/>
                          <a:hlinkClick r:id="rId8"/>
                        </a:rPr>
                        <a:t>QZone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0.5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939480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7. </a:t>
                      </a:r>
                      <a:r>
                        <a:rPr lang="en-US" sz="1400" b="1" u="none" strike="noStrike">
                          <a:effectLst/>
                          <a:hlinkClick r:id="rId9"/>
                        </a:rPr>
                        <a:t>Reddit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0.43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018925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8. </a:t>
                      </a:r>
                      <a:r>
                        <a:rPr lang="en-US" sz="1400" b="1" u="none" strike="noStrike">
                          <a:effectLst/>
                          <a:hlinkClick r:id="rId10"/>
                        </a:rPr>
                        <a:t>Kuaishou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0.4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790527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9. </a:t>
                      </a:r>
                      <a:r>
                        <a:rPr lang="en-US" sz="1400" b="1" u="none" strike="noStrike">
                          <a:effectLst/>
                          <a:hlinkClick r:id="rId11"/>
                        </a:rPr>
                        <a:t>Pinterest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0.36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9873005"/>
                  </a:ext>
                </a:extLst>
              </a:tr>
              <a:tr h="409248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1">
                          <a:effectLst/>
                        </a:rPr>
                        <a:t>10. </a:t>
                      </a:r>
                      <a:r>
                        <a:rPr lang="en-US" sz="1400" b="1" u="none" strike="noStrike">
                          <a:effectLst/>
                          <a:hlinkClick r:id="rId12"/>
                        </a:rPr>
                        <a:t>Twitter</a:t>
                      </a:r>
                      <a:endParaRPr lang="en-US" sz="1400" b="1">
                        <a:effectLst/>
                      </a:endParaRP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400" b="1" dirty="0">
                          <a:solidFill>
                            <a:srgbClr val="002060"/>
                          </a:solidFill>
                          <a:effectLst/>
                        </a:rPr>
                        <a:t>0.32 млрд пользователей</a:t>
                      </a:r>
                    </a:p>
                  </a:txBody>
                  <a:tcPr marL="81000" marR="81000" marT="81000" marB="810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2368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994952" y="1780840"/>
            <a:ext cx="771530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Связь в социальных сетях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осуществляется посредством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веб-сервиса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внутренней почты или мгновенного обмена сообщениями</a:t>
            </a:r>
          </a:p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Также бывают социальные сети для поиска не только людей по интересам, но и самих объектов этих интересов: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веб-сайтов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, прослушиваемой музыки и т. п. </a:t>
            </a:r>
          </a:p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Начало социальных сетей положил  в 1995 году американский портал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Classmates.com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(«Одноклассники» являются его русским аналогом)</a:t>
            </a:r>
          </a:p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Проект оказался весьма успешным, что в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</a:rPr>
              <a:t>в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последующие годы спровоцировало появление не одного десятка аналогичных сервисов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7999361" cy="61247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39552" y="1919201"/>
            <a:ext cx="81467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8000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Официальным началом бума социальных сетей принято считать 2003—2004 годы, когда были запущены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LinkedIn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,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MySpace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</a:rPr>
              <a:t> и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Facebook</a:t>
            </a:r>
            <a:endParaRPr lang="ru-RU" sz="2000" b="1" dirty="0">
              <a:solidFill>
                <a:srgbClr val="C00000"/>
              </a:solidFill>
              <a:latin typeface="Verdana" pitchFamily="34" charset="0"/>
            </a:endParaRPr>
          </a:p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Если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LinkedIn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создавалась с целью установления/поддержания деловых контактов, то владельцы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MySpace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и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</a:rPr>
              <a:t>Facebook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 сделали ставку в первую очередь на удовлетворение человеческой потребности в самовыражении</a:t>
            </a:r>
          </a:p>
          <a:p>
            <a:pPr marL="288000" algn="just" eaLnBrk="0" hangingPunct="0">
              <a:spcBef>
                <a:spcPts val="1200"/>
              </a:spcBef>
              <a:tabLst>
                <a:tab pos="269875" algn="l"/>
              </a:tabLs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</a:rPr>
              <a:t>При этом каждый пользователь получил возможность не просто общаться и творить, но и делиться плодами своего творчества с многомиллионной аудиторией той или иной социальной сети  </a:t>
            </a:r>
          </a:p>
          <a:p>
            <a:endParaRPr lang="ru-RU" sz="2000" b="1" dirty="0">
              <a:solidFill>
                <a:srgbClr val="002060"/>
              </a:solidFill>
              <a:latin typeface="Verdana" pitchFamily="34" charset="0"/>
            </a:endParaRP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1000100" y="214290"/>
            <a:ext cx="7999361" cy="61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ts val="4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>
                <a:ln>
                  <a:noFill/>
                </a:ln>
                <a:solidFill>
                  <a:srgbClr val="892B38"/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Социальные сети</a:t>
            </a:r>
            <a:endParaRPr kumimoji="0" lang="ru-RU" sz="4000" b="1" i="0" u="none" strike="noStrike" kern="1200" cap="none" spc="0" normalizeH="0" baseline="0" noProof="0" dirty="0">
              <a:ln>
                <a:noFill/>
              </a:ln>
              <a:solidFill>
                <a:srgbClr val="892B38"/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DCC6631-3612-4EEB-A948-6751630BE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622997"/>
              </p:ext>
            </p:extLst>
          </p:nvPr>
        </p:nvGraphicFramePr>
        <p:xfrm>
          <a:off x="683568" y="1742269"/>
          <a:ext cx="7999361" cy="3459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2020854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0582657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477540778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462425839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534154106"/>
                    </a:ext>
                  </a:extLst>
                </a:gridCol>
                <a:gridCol w="1086593">
                  <a:extLst>
                    <a:ext uri="{9D8B030D-6E8A-4147-A177-3AD203B41FA5}">
                      <a16:colId xmlns:a16="http://schemas.microsoft.com/office/drawing/2014/main" val="3734077967"/>
                    </a:ext>
                  </a:extLst>
                </a:gridCol>
              </a:tblGrid>
              <a:tr h="89464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ru-RU" sz="18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Instagram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Вконтакте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Facebook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Одноклассники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YouTube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extLst>
                  <a:ext uri="{0D108BD9-81ED-4DB2-BD59-A6C34878D82A}">
                    <a16:rowId xmlns:a16="http://schemas.microsoft.com/office/drawing/2014/main" val="758479660"/>
                  </a:ext>
                </a:extLst>
              </a:tr>
              <a:tr h="79102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Monthly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34 179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40 048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22 971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22 612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45 264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extLst>
                  <a:ext uri="{0D108BD9-81ED-4DB2-BD59-A6C34878D82A}">
                    <a16:rowId xmlns:a16="http://schemas.microsoft.com/office/drawing/2014/main" val="928261275"/>
                  </a:ext>
                </a:extLst>
              </a:tr>
              <a:tr h="79102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Average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Daily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Reach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16 320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22 646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5 021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8 540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19 131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extLst>
                  <a:ext uri="{0D108BD9-81ED-4DB2-BD59-A6C34878D82A}">
                    <a16:rowId xmlns:a16="http://schemas.microsoft.com/office/drawing/2014/main" val="2722664272"/>
                  </a:ext>
                </a:extLst>
              </a:tr>
              <a:tr h="926261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Avg. min. per day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 мин</a:t>
                      </a:r>
                      <a:endParaRPr lang="ru-RU" sz="1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 мин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мин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 мин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51 мин</a:t>
                      </a:r>
                      <a:endParaRPr lang="ru-RU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35266" marR="135266" marT="135266" marB="135266"/>
                </a:tc>
                <a:extLst>
                  <a:ext uri="{0D108BD9-81ED-4DB2-BD59-A6C34878D82A}">
                    <a16:rowId xmlns:a16="http://schemas.microsoft.com/office/drawing/2014/main" val="41582539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4BDCE0C-095F-4EA4-B538-D332B437965D}"/>
              </a:ext>
            </a:extLst>
          </p:cNvPr>
          <p:cNvSpPr txBox="1"/>
          <p:nvPr/>
        </p:nvSpPr>
        <p:spPr>
          <a:xfrm>
            <a:off x="461070" y="5201517"/>
            <a:ext cx="83594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Monthly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Reach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 — количество человек, заходивших на ресурс хотя бы 1 раз за месяц, в тыс. человек.</a:t>
            </a:r>
            <a:b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Average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Daily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Reach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 — среднее количество человек, заходивших на ресурс хотя бы 1 раз за день в январе 2021, в тыс. человек</a:t>
            </a:r>
            <a:b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Avg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min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per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ru-RU" sz="1600" b="1" dirty="0" err="1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day</a:t>
            </a:r>
            <a:r>
              <a:rPr lang="ru-RU" sz="1600" b="1" dirty="0">
                <a:solidFill>
                  <a:srgbClr val="000000"/>
                </a:solidFill>
                <a:effectLst/>
                <a:latin typeface="Mediator"/>
                <a:ea typeface="Times New Roman" panose="02020603050405020304" pitchFamily="18" charset="0"/>
                <a:cs typeface="Arial" panose="020B0604020202020204" pitchFamily="34" charset="0"/>
              </a:rPr>
              <a:t> — среднее количество минут, проведенное одним пользователем ресурса на сайте за день</a:t>
            </a:r>
            <a:endParaRPr lang="ru-RU" sz="1600" b="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pic>
        <p:nvPicPr>
          <p:cNvPr id="5" name="Рисунок 4" descr="Популярность социальных сетей в России 2020">
            <a:extLst>
              <a:ext uri="{FF2B5EF4-FFF2-40B4-BE49-F238E27FC236}">
                <a16:creationId xmlns:a16="http://schemas.microsoft.com/office/drawing/2014/main" id="{6EBEF30F-B2CC-4D50-8579-AD7022CD7FE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37" y="1700808"/>
            <a:ext cx="7306380" cy="381642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27584" y="5877272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Охват российской аудитории (январь 2021)</a:t>
            </a:r>
          </a:p>
        </p:txBody>
      </p:sp>
    </p:spTree>
    <p:extLst>
      <p:ext uri="{BB962C8B-B14F-4D97-AF65-F5344CB8AC3E}">
        <p14:creationId xmlns:p14="http://schemas.microsoft.com/office/powerpoint/2010/main" val="493180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Вовлеченность пользователей(январь 2021)</a:t>
            </a:r>
          </a:p>
        </p:txBody>
      </p:sp>
      <p:pic>
        <p:nvPicPr>
          <p:cNvPr id="6" name="Рисунок 5" descr="сколько время люди сидят в соцсетях">
            <a:extLst>
              <a:ext uri="{FF2B5EF4-FFF2-40B4-BE49-F238E27FC236}">
                <a16:creationId xmlns:a16="http://schemas.microsoft.com/office/drawing/2014/main" id="{4B1C1922-8ECE-4351-8E2D-1FB6D63DB6E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937" y="1772816"/>
            <a:ext cx="7377511" cy="43844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201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(осень 2020)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21A78C-0F00-42FD-93A3-FE82BDAAA4B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87" y="1573177"/>
            <a:ext cx="7999361" cy="46318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86701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(осень 2020)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B95225-F43A-4535-A30F-A96789E3945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5940425" cy="333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3FE9F5-F149-44D0-A42C-DCCDCAE325D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511" y="3380750"/>
            <a:ext cx="5940425" cy="3338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362819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(осень 2020)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EA25795-52FA-44ED-8759-FA97B600B3D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2"/>
            <a:ext cx="5940425" cy="333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41EB35-129C-4729-A8FD-EA372A6B236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873" y="3211680"/>
            <a:ext cx="5940425" cy="3338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07708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(осень 2020)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455D4D4-144A-421A-9DC3-148F642B59D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5940425" cy="3338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DCE823-FDE6-45A3-9419-1D92E5459765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269" y="3046203"/>
            <a:ext cx="5940425" cy="3338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337741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37" y="283676"/>
            <a:ext cx="7999361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Социальные сети в России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2ABA95-4C58-41D1-95CE-574605029681}"/>
              </a:ext>
            </a:extLst>
          </p:cNvPr>
          <p:cNvSpPr txBox="1"/>
          <p:nvPr/>
        </p:nvSpPr>
        <p:spPr>
          <a:xfrm>
            <a:off x="899592" y="6204991"/>
            <a:ext cx="7704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(осень 2020)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DEA930-E8A8-46C2-A026-20A6DC0B1B0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759902"/>
            <a:ext cx="7704855" cy="43333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04950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00" y="214290"/>
            <a:ext cx="7999361" cy="61247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92B38"/>
                </a:solidFill>
                <a:latin typeface="+mn-lt"/>
                <a:ea typeface="+mn-ea"/>
                <a:cs typeface="+mn-cs"/>
              </a:rPr>
              <a:t>Реклама в социальных сетях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F6741A9-124B-4EEB-ABFB-10DF37F41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33900"/>
            <a:ext cx="8208912" cy="510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83993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коммерция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1000100" y="1556792"/>
            <a:ext cx="7643866" cy="4170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Электронная коммерция (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e-commerce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)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— это сфера экономики, которая включает в себя все финансовые и торговые транзакции, осуществляемые при помощи компьютерных сетей, и бизнес-процессы, связанные с проведением таких транзакций</a:t>
            </a:r>
          </a:p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Цифровые деньги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являются основой платежной системы Интернет</a:t>
            </a:r>
          </a:p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Они представляют собой денежные знаки, которые эмитированы в форме электронных документов и обращаются в Интернет</a:t>
            </a:r>
            <a:endParaRPr lang="en-US" sz="2000" b="1" dirty="0">
              <a:solidFill>
                <a:srgbClr val="002060"/>
              </a:solidFill>
              <a:latin typeface="Verdana" pitchFamily="34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839932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коммерция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376647" y="1700808"/>
            <a:ext cx="8390706" cy="451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К электронной коммерции относят: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электронный обмен информацией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Electronis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Data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Interchange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, EDI)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электронное движение капитала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Electronic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Funds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Transfer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, EFS)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электронную торговлю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e-trade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электронные деньги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e-cash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электронный маркетинг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e-marketing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электронный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банкинг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e-banking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 </a:t>
            </a:r>
          </a:p>
          <a:p>
            <a:pPr marL="714375" indent="457200" eaLnBrk="0" hangingPunct="0">
              <a:spcBef>
                <a:spcPts val="1200"/>
              </a:spcBef>
              <a:spcAft>
                <a:spcPts val="300"/>
              </a:spcAft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электронные страховые услуги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e-insurance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142852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501234" y="1412776"/>
            <a:ext cx="8678168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Электронная торговля означает продажу товаров посредством сети интернет</a:t>
            </a:r>
          </a:p>
          <a:p>
            <a:pPr marL="288000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Выделяют следующие схемы взаимодействия:</a:t>
            </a:r>
          </a:p>
          <a:p>
            <a:pPr marL="714375" indent="457200" eaLnBrk="0" hangingPunct="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C2C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 (Customer-to-Customer) 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-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взаимодействие конечных потребителей с конечными потребителями</a:t>
            </a:r>
          </a:p>
          <a:p>
            <a:pPr marL="714375" indent="457200" eaLnBrk="0" hangingPunct="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B2C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Business-to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-</a:t>
            </a:r>
            <a:r>
              <a:rPr lang="en-US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Customer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)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- коммерческие взаимоотношения между организацией (</a:t>
            </a:r>
            <a:r>
              <a:rPr lang="ru-RU" sz="2000" b="1" dirty="0" err="1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Business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 и частным, так называемым, "конечным" потребителем (</a:t>
            </a:r>
            <a:r>
              <a:rPr lang="en-US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Customer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)</a:t>
            </a:r>
          </a:p>
          <a:p>
            <a:pPr marL="714375" lvl="8" indent="457200" eaLnBrk="0" hangingPunct="0">
              <a:spcBef>
                <a:spcPts val="600"/>
              </a:spcBef>
              <a:buFont typeface="Arial" pitchFamily="34" charset="0"/>
              <a:buChar char="•"/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B2B (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Business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to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Business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)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—вид информационного и экономического взаимодействия, классифицированного по типу взаимодействующих субъектов, в данном случае юридических лиц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899592" y="1564403"/>
            <a:ext cx="7858150" cy="5093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B2B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представляет собой  сектор рынка, который работает не на конечного, рядового потребителя, а на такие же компании, то есть на другой бизнес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Под понятием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B2B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также подразумеваются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системы электронной коммерции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, или системы электронной торговли — программно-аппаратные комплексы, являющиеся инструментами для осуществления торгово-закупочной деятельности в интернет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Основная задача систем В2В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—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повышение эффективности работы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компаний на В2В-рынке за счёт снижения затрат на подготовку торговых процедур и расширения географии бизнеса до масштаба всего мира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395536" y="1700808"/>
            <a:ext cx="8606730" cy="4785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Межфирменная торговля в интернет осуществляется через системы электронной торговли, посредством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организации торговых площадок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, на которых компании могут выступать и в качестве покупателей, и в качестве продавцов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Некоторые системы электронной торговли предлагают клиентам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дополнительные сервисы,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такие как привлечение поставщиков под торговые процедуры, расчет логистики, перевод на иностранные языки, разработка собственной торговой площадки под клиента и др. 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Ядром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системы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выступают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торги на понижение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между проверенными потенциальными компаниями-поставщиками в режиме реального времени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340643" y="1686833"/>
            <a:ext cx="8462714" cy="4978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B2B-системы различаются по набору предлагаемых функций: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1.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Корпоративный сайт компании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: предназначен для общения с партнёрами и контрагентами, содержит информацию о компании, персонале, руководстве, продукции, описание услуг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2.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Интернет-магазин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 — предназначен для сбыта продукции, может быть встроен в корпоративный сайт, позволяет размещать заказы, проводить электронные платежи, обеспечивать доставку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3.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Служба закупок снабжения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-  ищет поставщиков, получает коммерческие предложения, осуществляет электронные платежи, контролирует выполнение заказов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899592" y="1772816"/>
            <a:ext cx="7858150" cy="447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4.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Информационный сайт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— предназначен для размещения информации об отрасли, входящих в неё компаний, параметров состояния рынка, отраслевых стандартов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5.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Брокерский сайт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- выполняет роль посредников между покупателями и продавцами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6.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Электронная торговая площадка (ЭТП):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предназначена для непосредственного осуществления торгово-закупочной деятельности. ЭТП, как правило, выполняются в виде отдельных сайтов, и на них создаются рабочие места для предоставления пользователям целого ряда услуг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Заголовок 1"/>
          <p:cNvSpPr>
            <a:spLocks noGrp="1"/>
          </p:cNvSpPr>
          <p:nvPr>
            <p:ph type="title"/>
          </p:nvPr>
        </p:nvSpPr>
        <p:spPr>
          <a:xfrm>
            <a:off x="1000100" y="214290"/>
            <a:ext cx="5337743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Электронная торговля</a:t>
            </a:r>
          </a:p>
        </p:txBody>
      </p:sp>
      <p:sp>
        <p:nvSpPr>
          <p:cNvPr id="23555" name="Rectangle 1"/>
          <p:cNvSpPr>
            <a:spLocks noChangeArrowheads="1"/>
          </p:cNvSpPr>
          <p:nvPr/>
        </p:nvSpPr>
        <p:spPr bwMode="auto">
          <a:xfrm>
            <a:off x="985198" y="1556792"/>
            <a:ext cx="7858150" cy="4478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7. </a:t>
            </a:r>
            <a:r>
              <a:rPr lang="ru-RU" sz="2000" b="1" dirty="0">
                <a:solidFill>
                  <a:srgbClr val="C00000"/>
                </a:solidFill>
                <a:latin typeface="Verdana" pitchFamily="34" charset="0"/>
                <a:cs typeface="Times New Roman" pitchFamily="18" charset="0"/>
              </a:rPr>
              <a:t>Профессиональные b2b-медиа продукты </a:t>
            </a: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— это продукты (газеты, журналы, отраслевые каталоги, информационные бюллетени), нацеленные исключительно на профессионалов работающих в определённой сфере либо отрасли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Как правило, данные издания потребляются исключительно с целью получения информации, необходимой для работы</a:t>
            </a:r>
          </a:p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002060"/>
                </a:solidFill>
                <a:latin typeface="Verdana" pitchFamily="34" charset="0"/>
                <a:cs typeface="Times New Roman" pitchFamily="18" charset="0"/>
              </a:rPr>
              <a:t>При этом, различные типы изданий (нацеленные на определённую профессию или отрасль) могут иметь общую аудиторию, ведь одни и те же профессионалы работают на разных рынках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Заголовок 1"/>
          <p:cNvSpPr>
            <a:spLocks noGrp="1"/>
          </p:cNvSpPr>
          <p:nvPr>
            <p:ph type="title"/>
          </p:nvPr>
        </p:nvSpPr>
        <p:spPr>
          <a:xfrm>
            <a:off x="1000100" y="285728"/>
            <a:ext cx="4767074" cy="605294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Интернет-магазины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3EEB14-B723-4569-BA84-AA6F89B02F2C}"/>
              </a:ext>
            </a:extLst>
          </p:cNvPr>
          <p:cNvSpPr txBox="1"/>
          <p:nvPr/>
        </p:nvSpPr>
        <p:spPr>
          <a:xfrm>
            <a:off x="539552" y="1628800"/>
            <a:ext cx="784887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lvl="8" algn="just" eaLnBrk="0" hangingPunct="0">
              <a:spcBef>
                <a:spcPts val="1200"/>
              </a:spcBef>
              <a:spcAft>
                <a:spcPts val="300"/>
              </a:spcAft>
            </a:pPr>
            <a:r>
              <a:rPr lang="ru-RU" sz="2000" b="1" dirty="0">
                <a:solidFill>
                  <a:srgbClr val="990000"/>
                </a:solidFill>
                <a:cs typeface="Times New Roman" pitchFamily="18" charset="0"/>
              </a:rPr>
              <a:t>Интернет-магазин</a:t>
            </a: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 (англ. </a:t>
            </a:r>
            <a:r>
              <a:rPr lang="ru-RU" sz="2000" b="1" dirty="0" err="1">
                <a:solidFill>
                  <a:srgbClr val="002060"/>
                </a:solidFill>
                <a:cs typeface="Times New Roman" pitchFamily="18" charset="0"/>
              </a:rPr>
              <a:t>online</a:t>
            </a: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002060"/>
                </a:solidFill>
                <a:cs typeface="Times New Roman" pitchFamily="18" charset="0"/>
              </a:rPr>
              <a:t>shop</a:t>
            </a: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 или e-</a:t>
            </a:r>
            <a:r>
              <a:rPr lang="ru-RU" sz="2000" b="1" dirty="0" err="1">
                <a:solidFill>
                  <a:srgbClr val="002060"/>
                </a:solidFill>
                <a:cs typeface="Times New Roman" pitchFamily="18" charset="0"/>
              </a:rPr>
              <a:t>shop</a:t>
            </a: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) — сайт, торгующий товарами посредством сети Интернет, позволяет пользователям онлайн, в своём браузере или через мобильное приложение, сформировать заказ на покупку, выбрать способ оплаты и доставки заказа, оплатить заказ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1000100" y="285728"/>
            <a:ext cx="4767074" cy="612475"/>
          </a:xfr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Интернет-магазины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AC540-981A-4C6B-9150-3147F47DA109}"/>
              </a:ext>
            </a:extLst>
          </p:cNvPr>
          <p:cNvSpPr txBox="1"/>
          <p:nvPr/>
        </p:nvSpPr>
        <p:spPr>
          <a:xfrm>
            <a:off x="755576" y="1700808"/>
            <a:ext cx="7632848" cy="418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Интернет-магазины можно классифицировать по следующим видам: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модели бизнеса;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объемам продаж;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видам продаж;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способам получения дохода;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товарному ассортименту;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отношению с поставщиками;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- по представляемым товарам в каталоге.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Заголовок 1"/>
          <p:cNvSpPr>
            <a:spLocks noGrp="1"/>
          </p:cNvSpPr>
          <p:nvPr>
            <p:ph type="title"/>
          </p:nvPr>
        </p:nvSpPr>
        <p:spPr>
          <a:xfrm>
            <a:off x="539552" y="326992"/>
            <a:ext cx="8208912" cy="1118255"/>
          </a:xfr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ts val="4000"/>
              </a:lnSpc>
            </a:pPr>
            <a:r>
              <a:rPr lang="ru-RU" sz="4000" b="1" dirty="0">
                <a:solidFill>
                  <a:srgbClr val="860000"/>
                </a:solidFill>
                <a:latin typeface="+mn-lt"/>
                <a:ea typeface="+mn-ea"/>
                <a:cs typeface="+mn-cs"/>
              </a:rPr>
              <a:t>Способы оплаты покупок в интернет-магазине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AC540-981A-4C6B-9150-3147F47DA109}"/>
              </a:ext>
            </a:extLst>
          </p:cNvPr>
          <p:cNvSpPr txBox="1"/>
          <p:nvPr/>
        </p:nvSpPr>
        <p:spPr>
          <a:xfrm>
            <a:off x="827584" y="1988840"/>
            <a:ext cx="7632848" cy="3723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Банковская карта </a:t>
            </a:r>
          </a:p>
          <a:p>
            <a:pPr marL="0" lvl="1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Банковский перевод </a:t>
            </a:r>
          </a:p>
          <a:p>
            <a:pPr marL="0" lvl="1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Электронные деньги </a:t>
            </a:r>
          </a:p>
          <a:p>
            <a:pPr marL="0" lvl="1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Терминалы моментальной оплаты </a:t>
            </a:r>
          </a:p>
          <a:p>
            <a:pPr marL="0" lvl="1">
              <a:lnSpc>
                <a:spcPct val="150000"/>
              </a:lnSpc>
              <a:spcAft>
                <a:spcPts val="0"/>
              </a:spcAft>
            </a:pP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SMS-платежи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Наложенный платеж 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Наличный расчет</a:t>
            </a:r>
            <a:b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</a:br>
            <a:r>
              <a:rPr lang="ru-RU" sz="2000" b="1" dirty="0">
                <a:solidFill>
                  <a:srgbClr val="002060"/>
                </a:solidFill>
                <a:cs typeface="Times New Roman" pitchFamily="18" charset="0"/>
              </a:rPr>
              <a:t>Электронные кассы</a:t>
            </a:r>
          </a:p>
        </p:txBody>
      </p:sp>
    </p:spTree>
    <p:extLst>
      <p:ext uri="{BB962C8B-B14F-4D97-AF65-F5344CB8AC3E}">
        <p14:creationId xmlns:p14="http://schemas.microsoft.com/office/powerpoint/2010/main" val="2262983378"/>
      </p:ext>
    </p:extLst>
  </p:cSld>
  <p:clrMapOvr>
    <a:masterClrMapping/>
  </p:clrMapOvr>
</p:sld>
</file>

<file path=ppt/theme/theme1.xml><?xml version="1.0" encoding="utf-8"?>
<a:theme xmlns:a="http://schemas.openxmlformats.org/drawingml/2006/main" name="Затмение">
  <a:themeElements>
    <a:clrScheme name="Затмение 3">
      <a:dk1>
        <a:srgbClr val="000000"/>
      </a:dk1>
      <a:lt1>
        <a:srgbClr val="FFFFFF"/>
      </a:lt1>
      <a:dk2>
        <a:srgbClr val="0000CC"/>
      </a:dk2>
      <a:lt2>
        <a:srgbClr val="434343"/>
      </a:lt2>
      <a:accent1>
        <a:srgbClr val="99CC00"/>
      </a:accent1>
      <a:accent2>
        <a:srgbClr val="FFCC00"/>
      </a:accent2>
      <a:accent3>
        <a:srgbClr val="FFFFFF"/>
      </a:accent3>
      <a:accent4>
        <a:srgbClr val="000000"/>
      </a:accent4>
      <a:accent5>
        <a:srgbClr val="CAE2AA"/>
      </a:accent5>
      <a:accent6>
        <a:srgbClr val="E7B900"/>
      </a:accent6>
      <a:hlink>
        <a:srgbClr val="FF0000"/>
      </a:hlink>
      <a:folHlink>
        <a:srgbClr val="808080"/>
      </a:folHlink>
    </a:clrScheme>
    <a:fontScheme name="Затмение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Затмение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Затмение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Затмение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Затмение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Затмение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Затмение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Затмение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Затмение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Затмение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Затмение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Eclipse</Template>
  <TotalTime>975</TotalTime>
  <Words>4900</Words>
  <Application>Microsoft Office PowerPoint</Application>
  <PresentationFormat>Экран (4:3)</PresentationFormat>
  <Paragraphs>466</Paragraphs>
  <Slides>80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80</vt:i4>
      </vt:variant>
    </vt:vector>
  </HeadingPairs>
  <TitlesOfParts>
    <vt:vector size="88" baseType="lpstr">
      <vt:lpstr>Arial</vt:lpstr>
      <vt:lpstr>Calibri</vt:lpstr>
      <vt:lpstr>Helvetica Neue</vt:lpstr>
      <vt:lpstr>Mediator</vt:lpstr>
      <vt:lpstr>Times New Roman</vt:lpstr>
      <vt:lpstr>Verdana</vt:lpstr>
      <vt:lpstr>Wingdings</vt:lpstr>
      <vt:lpstr>Затмение</vt:lpstr>
      <vt:lpstr> Проф., д.т.н. Гусева А.И</vt:lpstr>
      <vt:lpstr>Содержание</vt:lpstr>
      <vt:lpstr>Двухзвенная архитектура  </vt:lpstr>
      <vt:lpstr>Двухзвенная архитектура  </vt:lpstr>
      <vt:lpstr>Двухзвенная архитектура  </vt:lpstr>
      <vt:lpstr>Достоинства и недостатки двухзвенной архитектуры </vt:lpstr>
      <vt:lpstr>Трёхзвенная архитектура </vt:lpstr>
      <vt:lpstr>Трёхзвенная архитектура </vt:lpstr>
      <vt:lpstr>Достоинства и недостатки трехзвенной архитектуры </vt:lpstr>
      <vt:lpstr>Историческая справка:  CORBA, DCOM и  RMI</vt:lpstr>
      <vt:lpstr>Технология RMI</vt:lpstr>
      <vt:lpstr>Технология RMI</vt:lpstr>
      <vt:lpstr>Технология CORBA </vt:lpstr>
      <vt:lpstr>Технология CORBA </vt:lpstr>
      <vt:lpstr>Технология DCOM</vt:lpstr>
      <vt:lpstr>Технология DCOM</vt:lpstr>
      <vt:lpstr>Веб - как архитектура  «клиент-сервер» </vt:lpstr>
      <vt:lpstr>Веб-как архитектура  «клиент-сервер» </vt:lpstr>
      <vt:lpstr>Веб-сервер и  веб-приложение</vt:lpstr>
      <vt:lpstr>СGI спецификации </vt:lpstr>
      <vt:lpstr>СGI спецификации </vt:lpstr>
      <vt:lpstr>Выполнение программ  на сервере</vt:lpstr>
      <vt:lpstr>Сценарии и апплеты</vt:lpstr>
      <vt:lpstr>Сценарии и апплеты</vt:lpstr>
      <vt:lpstr>Сценарии</vt:lpstr>
      <vt:lpstr>Апплеты</vt:lpstr>
      <vt:lpstr>Апплеты</vt:lpstr>
      <vt:lpstr>Апплеты</vt:lpstr>
      <vt:lpstr>Апплеты</vt:lpstr>
      <vt:lpstr>Язык XML</vt:lpstr>
      <vt:lpstr>Веб-сервисы</vt:lpstr>
      <vt:lpstr>Веб-сервисы</vt:lpstr>
      <vt:lpstr>Веб-сервисы</vt:lpstr>
      <vt:lpstr>Достоинства веб-сервисов</vt:lpstr>
      <vt:lpstr>Сервис-ориентированная  архитектура</vt:lpstr>
      <vt:lpstr>Сервис-ориентированная  архитектура</vt:lpstr>
      <vt:lpstr>Стандарты  веб-сервисов</vt:lpstr>
      <vt:lpstr>Стандарты  веб-сервисов</vt:lpstr>
      <vt:lpstr>Стандарты  веб-сервисов</vt:lpstr>
      <vt:lpstr>Стандарты  веб-сервисов</vt:lpstr>
      <vt:lpstr>Схема взаимодействия   веб-сервисов</vt:lpstr>
      <vt:lpstr>Примеры сервисно-ориентированной архитектуры</vt:lpstr>
      <vt:lpstr>Системы управления  веб-контентом WCMS</vt:lpstr>
      <vt:lpstr>Системы управления  веб-контентом WCMS</vt:lpstr>
      <vt:lpstr>Новостные ленты (RSS)</vt:lpstr>
      <vt:lpstr>Новостные ленты (RSS)</vt:lpstr>
      <vt:lpstr>Поисковые машины</vt:lpstr>
      <vt:lpstr>Поисковые машины</vt:lpstr>
      <vt:lpstr>Примеры различных систем</vt:lpstr>
      <vt:lpstr>Порталы</vt:lpstr>
      <vt:lpstr>Порталы</vt:lpstr>
      <vt:lpstr>Телекоммуникационные средства общения</vt:lpstr>
      <vt:lpstr>Телекоммуникационные средства общения</vt:lpstr>
      <vt:lpstr>Телекоммуникационные средства общения</vt:lpstr>
      <vt:lpstr>Телекоммуникационные средства общения</vt:lpstr>
      <vt:lpstr>Телекоммуникационные средства общения</vt:lpstr>
      <vt:lpstr>Социальные сети</vt:lpstr>
      <vt:lpstr>Социальные сети</vt:lpstr>
      <vt:lpstr>Социальные сети</vt:lpstr>
      <vt:lpstr>Презентация PowerPoint</vt:lpstr>
      <vt:lpstr>Социальные сети в России</vt:lpstr>
      <vt:lpstr>Социальные сети в России</vt:lpstr>
      <vt:lpstr>Социальные сети в России</vt:lpstr>
      <vt:lpstr>Социальные сети в России</vt:lpstr>
      <vt:lpstr>Социальные сети в России</vt:lpstr>
      <vt:lpstr>Социальные сети в России</vt:lpstr>
      <vt:lpstr>Социальные сети в России</vt:lpstr>
      <vt:lpstr>Социальные сети в России</vt:lpstr>
      <vt:lpstr>Реклама в социальных сетях</vt:lpstr>
      <vt:lpstr>Электронная коммерция</vt:lpstr>
      <vt:lpstr>Электронная коммерция</vt:lpstr>
      <vt:lpstr>Электронная торговля</vt:lpstr>
      <vt:lpstr>Электронная торговля</vt:lpstr>
      <vt:lpstr>Электронная торговля</vt:lpstr>
      <vt:lpstr>Электронная торговля</vt:lpstr>
      <vt:lpstr>Электронная торговля</vt:lpstr>
      <vt:lpstr>Электронная торговля</vt:lpstr>
      <vt:lpstr>Интернет-магазины</vt:lpstr>
      <vt:lpstr>Интернет-магазины</vt:lpstr>
      <vt:lpstr>Способы оплаты покупок в интернет-магазине</vt:lpstr>
    </vt:vector>
  </TitlesOfParts>
  <Company>None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системы  информационной поддержки самостоятельной работы студентов</dc:title>
  <dc:creator>ыы</dc:creator>
  <cp:lastModifiedBy>Vasiliy Vasyly</cp:lastModifiedBy>
  <cp:revision>50</cp:revision>
  <dcterms:created xsi:type="dcterms:W3CDTF">2007-06-02T16:01:19Z</dcterms:created>
  <dcterms:modified xsi:type="dcterms:W3CDTF">2021-05-12T06:46:03Z</dcterms:modified>
</cp:coreProperties>
</file>